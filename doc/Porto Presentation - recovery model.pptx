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0"/>
  </p:notesMasterIdLst>
  <p:sldIdLst>
    <p:sldId id="278" r:id="rId5"/>
    <p:sldId id="256" r:id="rId6"/>
    <p:sldId id="258" r:id="rId7"/>
    <p:sldId id="259" r:id="rId8"/>
    <p:sldId id="261" r:id="rId9"/>
    <p:sldId id="262" r:id="rId10"/>
    <p:sldId id="263" r:id="rId11"/>
    <p:sldId id="264" r:id="rId12"/>
    <p:sldId id="275" r:id="rId13"/>
    <p:sldId id="276" r:id="rId14"/>
    <p:sldId id="257" r:id="rId15"/>
    <p:sldId id="267" r:id="rId16"/>
    <p:sldId id="268" r:id="rId17"/>
    <p:sldId id="269" r:id="rId18"/>
    <p:sldId id="270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6AD0C6-A4DB-1CA1-AA2E-6FBC8217E28C}" v="4" dt="2024-05-16T09:46:34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2695abcf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2695abcf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26f928921_6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26f928921_6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a01c2659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da01c2659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2695abcf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2695abcf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2695abcfe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2695abcfe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26f928921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d26f928921_6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d26f928921_6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d26f928921_6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26f928921_6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d26f928921_6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26f928921_6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d26f928921_6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20339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a7eaae27a_106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da7eaae27a_106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da7eaae27a_45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da7eaae27a_45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d2695abcf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d2695abcfe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d21e4f84b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d21e4f84b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a7eaae27a_106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da7eaae27a_106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8100" y="-42863"/>
            <a:ext cx="9215438" cy="3970899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180" y="3881577"/>
            <a:ext cx="9142820" cy="1261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6175" y="1373213"/>
            <a:ext cx="2675733" cy="1480728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619" y="4190711"/>
            <a:ext cx="2214000" cy="405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02" y="4196849"/>
            <a:ext cx="1930454" cy="405000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6543676" y="4175775"/>
            <a:ext cx="2175272" cy="405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quarter" idx="20" hasCustomPrompt="1"/>
          </p:nvPr>
        </p:nvSpPr>
        <p:spPr>
          <a:xfrm>
            <a:off x="4243387" y="2870599"/>
            <a:ext cx="4488016" cy="332942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Date 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4243387" y="3220199"/>
            <a:ext cx="4488016" cy="332942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Name (s)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sz="quarter" idx="22" hasCustomPrompt="1"/>
          </p:nvPr>
        </p:nvSpPr>
        <p:spPr>
          <a:xfrm>
            <a:off x="4243387" y="3569798"/>
            <a:ext cx="4488016" cy="332942"/>
          </a:xfrm>
        </p:spPr>
        <p:txBody>
          <a:bodyPr>
            <a:noAutofit/>
          </a:bodyPr>
          <a:lstStyle>
            <a:lvl1pPr marL="0" indent="0">
              <a:buNone/>
              <a:defRPr sz="15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Organisation (s)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 hasCustomPrompt="1"/>
          </p:nvPr>
        </p:nvSpPr>
        <p:spPr>
          <a:xfrm>
            <a:off x="4243386" y="660283"/>
            <a:ext cx="4488016" cy="2210316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3750" b="1" kern="1200" baseline="0" noProof="0" dirty="0" smtClean="0">
                <a:solidFill>
                  <a:schemeClr val="bg1"/>
                </a:solidFill>
                <a:latin typeface="Cabin SemiBold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Title of presentation </a:t>
            </a:r>
          </a:p>
        </p:txBody>
      </p:sp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C7BB92BA-A030-A761-E378-3E5330107BE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846" y="4190711"/>
            <a:ext cx="1373602" cy="4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84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8082671" y="-18876"/>
            <a:ext cx="1109565" cy="519698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873" y="353567"/>
            <a:ext cx="5940000" cy="415800"/>
          </a:xfrm>
        </p:spPr>
        <p:txBody>
          <a:bodyPr lIns="0" tIns="0" rIns="0" bIns="0">
            <a:normAutofit/>
          </a:bodyPr>
          <a:lstStyle/>
          <a:p>
            <a:endParaRPr lang="en-US" sz="3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72873" y="1210240"/>
            <a:ext cx="7372632" cy="357969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sz="1800"/>
            </a:lvl1pPr>
            <a:lvl2pPr>
              <a:defRPr sz="15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372873" y="852795"/>
            <a:ext cx="351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8601075" y="4902916"/>
            <a:ext cx="394102" cy="16438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05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‹#›</a:t>
            </a:fld>
            <a:endParaRPr lang="en-US" sz="105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953" y="353567"/>
            <a:ext cx="351001" cy="35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0103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33337"/>
            <a:ext cx="4208803" cy="5219699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C689A170-4EC5-98B5-9FAB-05981D63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121774"/>
            <a:ext cx="4080242" cy="345282"/>
          </a:xfrm>
        </p:spPr>
        <p:txBody>
          <a:bodyPr lIns="0" tIns="0" rIns="0" bIns="0">
            <a:noAutofit/>
          </a:bodyPr>
          <a:lstStyle/>
          <a:p>
            <a:r>
              <a:rPr lang="en-US" sz="3000" b="1">
                <a:latin typeface="Cabin" pitchFamily="2" charset="77"/>
                <a:cs typeface="Calibri Light"/>
              </a:rPr>
              <a:t>Contents</a:t>
            </a:r>
            <a:endParaRPr lang="en-US" sz="3000" b="1">
              <a:latin typeface="Cabin" pitchFamily="2" charset="77"/>
              <a:cs typeface="Arial"/>
            </a:endParaRPr>
          </a:p>
        </p:txBody>
      </p: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4574977" y="1607286"/>
            <a:ext cx="351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platzhalter 38"/>
          <p:cNvSpPr>
            <a:spLocks noGrp="1"/>
          </p:cNvSpPr>
          <p:nvPr>
            <p:ph type="body" sz="quarter" idx="10"/>
          </p:nvPr>
        </p:nvSpPr>
        <p:spPr>
          <a:xfrm>
            <a:off x="4572000" y="2228297"/>
            <a:ext cx="2979916" cy="280226"/>
          </a:xfrm>
        </p:spPr>
        <p:txBody>
          <a:bodyPr>
            <a:noAutofit/>
          </a:bodyPr>
          <a:lstStyle>
            <a:lvl1pPr marL="0" indent="0">
              <a:buNone/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15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57" name="Textplatzhalt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908451"/>
            <a:ext cx="4080241" cy="319847"/>
          </a:xfrm>
        </p:spPr>
        <p:txBody>
          <a:bodyPr>
            <a:noAutofit/>
          </a:bodyPr>
          <a:lstStyle>
            <a:lvl1pPr marL="0" indent="0">
              <a:buNone/>
              <a:defRPr sz="225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1" name="Textplatzhalter 38"/>
          <p:cNvSpPr>
            <a:spLocks noGrp="1"/>
          </p:cNvSpPr>
          <p:nvPr>
            <p:ph type="body" sz="quarter" idx="18"/>
          </p:nvPr>
        </p:nvSpPr>
        <p:spPr>
          <a:xfrm>
            <a:off x="4572000" y="3008104"/>
            <a:ext cx="2979916" cy="280226"/>
          </a:xfrm>
        </p:spPr>
        <p:txBody>
          <a:bodyPr>
            <a:noAutofit/>
          </a:bodyPr>
          <a:lstStyle>
            <a:lvl1pPr marL="0" indent="0">
              <a:buNone/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15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2" name="Textplatzhalt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4572000" y="2688258"/>
            <a:ext cx="4080241" cy="319847"/>
          </a:xfrm>
        </p:spPr>
        <p:txBody>
          <a:bodyPr>
            <a:noAutofit/>
          </a:bodyPr>
          <a:lstStyle>
            <a:lvl1pPr marL="0" indent="0">
              <a:buNone/>
              <a:defRPr sz="225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3" name="Textplatzhalter 38"/>
          <p:cNvSpPr>
            <a:spLocks noGrp="1"/>
          </p:cNvSpPr>
          <p:nvPr>
            <p:ph type="body" sz="quarter" idx="20"/>
          </p:nvPr>
        </p:nvSpPr>
        <p:spPr>
          <a:xfrm>
            <a:off x="4572000" y="3777872"/>
            <a:ext cx="2979916" cy="280226"/>
          </a:xfrm>
        </p:spPr>
        <p:txBody>
          <a:bodyPr>
            <a:noAutofit/>
          </a:bodyPr>
          <a:lstStyle>
            <a:lvl1pPr marL="0" indent="0">
              <a:buNone/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15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4" name="Textplatzhalt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0" y="3458026"/>
            <a:ext cx="4080241" cy="319847"/>
          </a:xfrm>
        </p:spPr>
        <p:txBody>
          <a:bodyPr>
            <a:noAutofit/>
          </a:bodyPr>
          <a:lstStyle>
            <a:lvl1pPr marL="0" indent="0">
              <a:buNone/>
              <a:defRPr sz="225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5" name="Textplatzhalter 38"/>
          <p:cNvSpPr>
            <a:spLocks noGrp="1"/>
          </p:cNvSpPr>
          <p:nvPr>
            <p:ph type="body" sz="quarter" idx="22"/>
          </p:nvPr>
        </p:nvSpPr>
        <p:spPr>
          <a:xfrm>
            <a:off x="4572000" y="4557679"/>
            <a:ext cx="2979916" cy="280226"/>
          </a:xfrm>
        </p:spPr>
        <p:txBody>
          <a:bodyPr>
            <a:noAutofit/>
          </a:bodyPr>
          <a:lstStyle>
            <a:lvl1pPr marL="0" indent="0">
              <a:buNone/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15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15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6" name="Textplatzhalter 56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00" y="4237833"/>
            <a:ext cx="4080241" cy="319847"/>
          </a:xfrm>
        </p:spPr>
        <p:txBody>
          <a:bodyPr>
            <a:noAutofit/>
          </a:bodyPr>
          <a:lstStyle>
            <a:lvl1pPr marL="0" indent="0">
              <a:buNone/>
              <a:defRPr sz="225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4" hasCustomPrompt="1"/>
          </p:nvPr>
        </p:nvSpPr>
        <p:spPr>
          <a:xfrm>
            <a:off x="3362325" y="1857614"/>
            <a:ext cx="575347" cy="370285"/>
          </a:xfrm>
        </p:spPr>
        <p:txBody>
          <a:bodyPr>
            <a:no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2250" b="1" kern="1200" dirty="0">
                <a:solidFill>
                  <a:srgbClr val="FFFFFF"/>
                </a:solidFill>
                <a:latin typeface="Cabin" pitchFamily="2" charset="77"/>
                <a:ea typeface="+mn-ea"/>
                <a:cs typeface="Calibri"/>
              </a:defRPr>
            </a:lvl1pPr>
          </a:lstStyle>
          <a:p>
            <a:pPr lvl="0"/>
            <a:r>
              <a:rPr lang="en-US"/>
              <a:t>01.</a:t>
            </a:r>
          </a:p>
        </p:txBody>
      </p:sp>
      <p:sp>
        <p:nvSpPr>
          <p:cNvPr id="19" name="Textplatzhalter 2"/>
          <p:cNvSpPr>
            <a:spLocks noGrp="1"/>
          </p:cNvSpPr>
          <p:nvPr>
            <p:ph type="body" sz="quarter" idx="25" hasCustomPrompt="1"/>
          </p:nvPr>
        </p:nvSpPr>
        <p:spPr>
          <a:xfrm>
            <a:off x="3353531" y="2634160"/>
            <a:ext cx="575347" cy="370285"/>
          </a:xfrm>
        </p:spPr>
        <p:txBody>
          <a:bodyPr>
            <a:no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2250" b="1" kern="1200" dirty="0">
                <a:solidFill>
                  <a:srgbClr val="FFFFFF"/>
                </a:solidFill>
                <a:latin typeface="Cabin" pitchFamily="2" charset="77"/>
                <a:ea typeface="+mn-ea"/>
                <a:cs typeface="Calibri"/>
              </a:defRPr>
            </a:lvl1pPr>
          </a:lstStyle>
          <a:p>
            <a:pPr lvl="0"/>
            <a:r>
              <a:rPr lang="en-US"/>
              <a:t>02.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sz="quarter" idx="26" hasCustomPrompt="1"/>
          </p:nvPr>
        </p:nvSpPr>
        <p:spPr>
          <a:xfrm>
            <a:off x="3353529" y="3407588"/>
            <a:ext cx="575347" cy="370285"/>
          </a:xfrm>
        </p:spPr>
        <p:txBody>
          <a:bodyPr>
            <a:no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2250" b="1" kern="1200" dirty="0">
                <a:solidFill>
                  <a:srgbClr val="FFFFFF"/>
                </a:solidFill>
                <a:latin typeface="Cabin" pitchFamily="2" charset="77"/>
                <a:ea typeface="+mn-ea"/>
                <a:cs typeface="Calibri"/>
              </a:defRPr>
            </a:lvl1pPr>
          </a:lstStyle>
          <a:p>
            <a:pPr lvl="0"/>
            <a:r>
              <a:rPr lang="en-US"/>
              <a:t>03.</a:t>
            </a:r>
          </a:p>
        </p:txBody>
      </p:sp>
      <p:sp>
        <p:nvSpPr>
          <p:cNvPr id="21" name="Textplatzhalter 2"/>
          <p:cNvSpPr>
            <a:spLocks noGrp="1"/>
          </p:cNvSpPr>
          <p:nvPr>
            <p:ph type="body" sz="quarter" idx="27" hasCustomPrompt="1"/>
          </p:nvPr>
        </p:nvSpPr>
        <p:spPr>
          <a:xfrm>
            <a:off x="3291841" y="4187395"/>
            <a:ext cx="637037" cy="370285"/>
          </a:xfrm>
        </p:spPr>
        <p:txBody>
          <a:bodyPr>
            <a:no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2250" b="1" kern="1200" dirty="0">
                <a:solidFill>
                  <a:srgbClr val="FFFFFF"/>
                </a:solidFill>
                <a:latin typeface="Cabin" pitchFamily="2" charset="77"/>
                <a:ea typeface="+mn-ea"/>
                <a:cs typeface="Calibri"/>
              </a:defRPr>
            </a:lvl1pPr>
          </a:lstStyle>
          <a:p>
            <a:pPr lvl="0"/>
            <a:r>
              <a:rPr lang="en-US"/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2976751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34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quarter" idx="20"/>
          </p:nvPr>
        </p:nvSpPr>
        <p:spPr/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16 May 2024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1"/>
          </p:nvPr>
        </p:nvSpPr>
        <p:spPr/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999"/>
              </a:lnSpc>
            </a:pPr>
            <a:r>
              <a:rPr lang="en-US">
                <a:solidFill>
                  <a:srgbClr val="FFFFFF"/>
                </a:solidFill>
              </a:rPr>
              <a:t>Adrien Perello</a:t>
            </a:r>
            <a:endParaRPr lang="en-US">
              <a:solidFill>
                <a:srgbClr val="FFFFFF"/>
              </a:solidFill>
              <a:cs typeface="Arial"/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sz="quarter" idx="22"/>
          </p:nvPr>
        </p:nvSpPr>
        <p:spPr/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Leiden University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/>
          </p:nvPr>
        </p:nvSpPr>
        <p:spPr>
          <a:xfrm>
            <a:off x="4243386" y="1352098"/>
            <a:ext cx="4472977" cy="1518501"/>
          </a:xfrm>
        </p:spPr>
        <p:txBody>
          <a:bodyPr>
            <a:norm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50">
                <a:solidFill>
                  <a:srgbClr val="FFFFFF"/>
                </a:solidFill>
                <a:latin typeface="Arial"/>
                <a:cs typeface="Arial"/>
              </a:rPr>
              <a:t>Recovery Model</a:t>
            </a:r>
          </a:p>
        </p:txBody>
      </p:sp>
      <p:pic>
        <p:nvPicPr>
          <p:cNvPr id="10" name="Picture 9" descr="A blue and white logo&#10;&#10;Description automatically generated">
            <a:extLst>
              <a:ext uri="{FF2B5EF4-FFF2-40B4-BE49-F238E27FC236}">
                <a16:creationId xmlns:a16="http://schemas.microsoft.com/office/drawing/2014/main" id="{051D2B11-5E3D-557E-14DB-19827902F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526" y="4031415"/>
            <a:ext cx="1312345" cy="72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87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r="56591"/>
          <a:stretch/>
        </p:blipFill>
        <p:spPr>
          <a:xfrm>
            <a:off x="318000" y="76200"/>
            <a:ext cx="3073200" cy="50399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57800" y="3207075"/>
            <a:ext cx="11781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Mass transferred to</a:t>
            </a:r>
            <a:endParaRPr sz="1200">
              <a:solidFill>
                <a:srgbClr val="FF0000"/>
              </a:solidFill>
              <a:latin typeface="Cabi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830750" y="2578325"/>
            <a:ext cx="11781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Mass </a:t>
            </a:r>
            <a:endParaRPr sz="1200">
              <a:solidFill>
                <a:srgbClr val="FF0000"/>
              </a:solidFill>
              <a:latin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derived from</a:t>
            </a:r>
            <a:endParaRPr sz="1200">
              <a:solidFill>
                <a:srgbClr val="FF0000"/>
              </a:solidFill>
              <a:latin typeface="Cabin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 rot="10800000" flipH="1">
            <a:off x="710200" y="3657075"/>
            <a:ext cx="888000" cy="6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" name="Google Shape;58;p13"/>
          <p:cNvCxnSpPr/>
          <p:nvPr/>
        </p:nvCxnSpPr>
        <p:spPr>
          <a:xfrm>
            <a:off x="2852850" y="2537175"/>
            <a:ext cx="3600" cy="669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 r="59769"/>
          <a:stretch/>
        </p:blipFill>
        <p:spPr>
          <a:xfrm>
            <a:off x="318000" y="76200"/>
            <a:ext cx="2849851" cy="504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8141" y="2664450"/>
            <a:ext cx="1313825" cy="38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5652866" y="2689050"/>
            <a:ext cx="214500" cy="342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854966" y="3372900"/>
            <a:ext cx="12801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TCs</a:t>
            </a:r>
            <a:endParaRPr sz="1200">
              <a:solidFill>
                <a:srgbClr val="FF0000"/>
              </a:solidFill>
              <a:latin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+</a:t>
            </a:r>
            <a:endParaRPr sz="1200">
              <a:solidFill>
                <a:srgbClr val="FF0000"/>
              </a:solidFill>
              <a:latin typeface="Cabin"/>
            </a:endParaRPr>
          </a:p>
        </p:txBody>
      </p:sp>
      <p:cxnSp>
        <p:nvCxnSpPr>
          <p:cNvPr id="63" name="Google Shape;63;p13"/>
          <p:cNvCxnSpPr>
            <a:cxnSpLocks/>
          </p:cNvCxnSpPr>
          <p:nvPr/>
        </p:nvCxnSpPr>
        <p:spPr>
          <a:xfrm flipH="1">
            <a:off x="5494916" y="3031050"/>
            <a:ext cx="265100" cy="34185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" name="Google Shape;64;p13"/>
          <p:cNvSpPr/>
          <p:nvPr/>
        </p:nvSpPr>
        <p:spPr>
          <a:xfrm>
            <a:off x="6357215" y="2689050"/>
            <a:ext cx="214500" cy="342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7075823" y="2689050"/>
            <a:ext cx="7401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input mass</a:t>
            </a:r>
            <a:endParaRPr sz="1200">
              <a:solidFill>
                <a:srgbClr val="FF0000"/>
              </a:solidFill>
              <a:latin typeface="Cabin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5985866" y="2730600"/>
            <a:ext cx="234300" cy="258900"/>
          </a:xfrm>
          <a:prstGeom prst="ellipse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960941" y="3373050"/>
            <a:ext cx="12801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C78D8"/>
                </a:solidFill>
                <a:latin typeface="Cabin"/>
              </a:rPr>
              <a:t>What we want to know</a:t>
            </a:r>
            <a:endParaRPr sz="1200">
              <a:solidFill>
                <a:srgbClr val="3C78D8"/>
              </a:solidFill>
              <a:latin typeface="Cabin"/>
            </a:endParaRPr>
          </a:p>
        </p:txBody>
      </p:sp>
      <p:cxnSp>
        <p:nvCxnSpPr>
          <p:cNvPr id="69" name="Google Shape;69;p13"/>
          <p:cNvCxnSpPr>
            <a:cxnSpLocks/>
          </p:cNvCxnSpPr>
          <p:nvPr/>
        </p:nvCxnSpPr>
        <p:spPr>
          <a:xfrm>
            <a:off x="6103016" y="2989500"/>
            <a:ext cx="497975" cy="38355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70" name="Google Shape;70;p13"/>
          <p:cNvSpPr txBox="1"/>
          <p:nvPr/>
        </p:nvSpPr>
        <p:spPr>
          <a:xfrm>
            <a:off x="4852141" y="383010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input</a:t>
            </a:r>
            <a:endParaRPr sz="1200">
              <a:solidFill>
                <a:srgbClr val="FF0000"/>
              </a:solidFill>
              <a:latin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composition</a:t>
            </a:r>
            <a:endParaRPr sz="1200">
              <a:solidFill>
                <a:srgbClr val="FF0000"/>
              </a:solidFill>
              <a:latin typeface="Cabin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551250" y="2479225"/>
            <a:ext cx="333300" cy="277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3280975" y="2491575"/>
            <a:ext cx="43200" cy="228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557800" y="4801925"/>
            <a:ext cx="25443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A</a:t>
            </a:r>
            <a:endParaRPr sz="1200">
              <a:solidFill>
                <a:schemeClr val="dk1"/>
              </a:solidFill>
              <a:latin typeface="Cabin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185425" y="4744200"/>
            <a:ext cx="2343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y</a:t>
            </a:r>
            <a:endParaRPr sz="1200">
              <a:solidFill>
                <a:schemeClr val="dk1"/>
              </a:solidFill>
              <a:latin typeface="Cabin"/>
            </a:endParaRPr>
          </a:p>
        </p:txBody>
      </p:sp>
      <p:cxnSp>
        <p:nvCxnSpPr>
          <p:cNvPr id="3" name="Google Shape;98;p15">
            <a:extLst>
              <a:ext uri="{FF2B5EF4-FFF2-40B4-BE49-F238E27FC236}">
                <a16:creationId xmlns:a16="http://schemas.microsoft.com/office/drawing/2014/main" id="{8A7155EF-A70A-0F60-118F-4BFC5A9DEF9D}"/>
              </a:ext>
            </a:extLst>
          </p:cNvPr>
          <p:cNvCxnSpPr>
            <a:cxnSpLocks/>
          </p:cNvCxnSpPr>
          <p:nvPr/>
        </p:nvCxnSpPr>
        <p:spPr>
          <a:xfrm>
            <a:off x="6571214" y="2860050"/>
            <a:ext cx="451469" cy="140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00" y="2016000"/>
            <a:ext cx="4414176" cy="9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639" y="2664450"/>
            <a:ext cx="1313825" cy="38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5652364" y="2689050"/>
            <a:ext cx="214500" cy="342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854464" y="3372900"/>
            <a:ext cx="12801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TCs</a:t>
            </a:r>
            <a:endParaRPr sz="1200">
              <a:solidFill>
                <a:srgbClr val="FF0000"/>
              </a:solidFill>
              <a:latin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+</a:t>
            </a:r>
            <a:endParaRPr sz="1200">
              <a:solidFill>
                <a:srgbClr val="FF0000"/>
              </a:solidFill>
              <a:latin typeface="Cabin"/>
            </a:endParaRPr>
          </a:p>
        </p:txBody>
      </p:sp>
      <p:cxnSp>
        <p:nvCxnSpPr>
          <p:cNvPr id="96" name="Google Shape;96;p15"/>
          <p:cNvCxnSpPr>
            <a:cxnSpLocks/>
          </p:cNvCxnSpPr>
          <p:nvPr/>
        </p:nvCxnSpPr>
        <p:spPr>
          <a:xfrm flipH="1">
            <a:off x="5494414" y="3031050"/>
            <a:ext cx="265100" cy="34185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97;p15"/>
          <p:cNvSpPr/>
          <p:nvPr/>
        </p:nvSpPr>
        <p:spPr>
          <a:xfrm>
            <a:off x="6356714" y="2689050"/>
            <a:ext cx="214500" cy="342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cxnSp>
        <p:nvCxnSpPr>
          <p:cNvPr id="98" name="Google Shape;98;p15"/>
          <p:cNvCxnSpPr>
            <a:cxnSpLocks/>
          </p:cNvCxnSpPr>
          <p:nvPr/>
        </p:nvCxnSpPr>
        <p:spPr>
          <a:xfrm>
            <a:off x="6571214" y="2860050"/>
            <a:ext cx="451469" cy="140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" name="Google Shape;99;p15"/>
          <p:cNvSpPr txBox="1"/>
          <p:nvPr/>
        </p:nvSpPr>
        <p:spPr>
          <a:xfrm>
            <a:off x="7075321" y="2689050"/>
            <a:ext cx="7401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input mass</a:t>
            </a:r>
            <a:endParaRPr sz="1200">
              <a:solidFill>
                <a:srgbClr val="FF0000"/>
              </a:solidFill>
              <a:latin typeface="Cabin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851639" y="383010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input</a:t>
            </a:r>
            <a:endParaRPr sz="1200">
              <a:solidFill>
                <a:srgbClr val="FF0000"/>
              </a:solidFill>
              <a:latin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composition</a:t>
            </a:r>
            <a:endParaRPr sz="1200">
              <a:solidFill>
                <a:srgbClr val="FF0000"/>
              </a:solidFill>
              <a:latin typeface="Cabin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5">
            <a:alphaModFix/>
          </a:blip>
          <a:srcRect t="27458" r="44438" b="10587"/>
          <a:stretch/>
        </p:blipFill>
        <p:spPr>
          <a:xfrm>
            <a:off x="693825" y="3166775"/>
            <a:ext cx="2936601" cy="15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400" y="554688"/>
            <a:ext cx="3879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1138" y="285563"/>
            <a:ext cx="2628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732575" y="3225100"/>
            <a:ext cx="576900" cy="879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732575" y="3225100"/>
            <a:ext cx="188100" cy="1153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732575" y="3225100"/>
            <a:ext cx="52500" cy="1445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22975" y="2298825"/>
            <a:ext cx="4328400" cy="194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122975" y="2493225"/>
            <a:ext cx="4328400" cy="231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122975" y="2732800"/>
            <a:ext cx="4328400" cy="194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30500" y="390000"/>
            <a:ext cx="10797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chemeClr val="dk2"/>
                </a:solidFill>
                <a:latin typeface="Cabin"/>
              </a:rPr>
              <a:t>TCs</a:t>
            </a:r>
            <a:endParaRPr sz="900" i="1">
              <a:solidFill>
                <a:schemeClr val="dk2"/>
              </a:solidFill>
              <a:latin typeface="Cabin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30494" y="1850509"/>
            <a:ext cx="3140108" cy="201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900" i="1">
                <a:solidFill>
                  <a:schemeClr val="dk2"/>
                </a:solidFill>
                <a:latin typeface="Cabin"/>
              </a:rPr>
              <a:t>input composition (</a:t>
            </a:r>
            <a:r>
              <a:rPr lang="en-GB" sz="900" i="1" err="1">
                <a:solidFill>
                  <a:schemeClr val="dk2"/>
                </a:solidFill>
                <a:latin typeface="Cabin"/>
              </a:rPr>
              <a:t>nb</a:t>
            </a:r>
            <a:r>
              <a:rPr lang="en-GB" sz="900" i="1">
                <a:solidFill>
                  <a:schemeClr val="dk2"/>
                </a:solidFill>
                <a:latin typeface="Cabin"/>
              </a:rPr>
              <a:t> layers is flexible)</a:t>
            </a:r>
            <a:endParaRPr sz="900" i="1" err="1">
              <a:solidFill>
                <a:schemeClr val="dk2"/>
              </a:solidFill>
              <a:latin typeface="Cabin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439775" y="97450"/>
            <a:ext cx="10797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chemeClr val="dk2"/>
                </a:solidFill>
                <a:latin typeface="Cabin"/>
              </a:rPr>
              <a:t>input mass</a:t>
            </a:r>
            <a:endParaRPr sz="900" i="1">
              <a:solidFill>
                <a:schemeClr val="dk2"/>
              </a:solidFill>
              <a:latin typeface="Cabin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4377073" y="1233004"/>
            <a:ext cx="1352120" cy="554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1200" b="1">
                <a:solidFill>
                  <a:schemeClr val="dk1"/>
                </a:solidFill>
                <a:latin typeface="Cabin"/>
              </a:rPr>
              <a:t>The only things the model needs from each WS</a:t>
            </a:r>
          </a:p>
        </p:txBody>
      </p:sp>
      <p:cxnSp>
        <p:nvCxnSpPr>
          <p:cNvPr id="114" name="Google Shape;114;p15"/>
          <p:cNvCxnSpPr/>
          <p:nvPr/>
        </p:nvCxnSpPr>
        <p:spPr>
          <a:xfrm flipV="1">
            <a:off x="5685872" y="1155496"/>
            <a:ext cx="282156" cy="14954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5" name="Google Shape;115;p15"/>
          <p:cNvCxnSpPr/>
          <p:nvPr/>
        </p:nvCxnSpPr>
        <p:spPr>
          <a:xfrm flipH="1" flipV="1">
            <a:off x="4058619" y="1131716"/>
            <a:ext cx="354216" cy="13694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6" name="Google Shape;116;p15"/>
          <p:cNvCxnSpPr/>
          <p:nvPr/>
        </p:nvCxnSpPr>
        <p:spPr>
          <a:xfrm rot="10800000" flipH="1">
            <a:off x="4522100" y="1814650"/>
            <a:ext cx="222000" cy="209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00" y="554688"/>
            <a:ext cx="3879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800" y="576000"/>
            <a:ext cx="3858228" cy="9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800" y="576000"/>
            <a:ext cx="3861505" cy="9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6">
            <a:alphaModFix/>
          </a:blip>
          <a:srcRect l="48657" b="62387"/>
          <a:stretch/>
        </p:blipFill>
        <p:spPr>
          <a:xfrm>
            <a:off x="4149825" y="91300"/>
            <a:ext cx="3636976" cy="189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4149825" y="397875"/>
            <a:ext cx="3786600" cy="92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149825" y="781825"/>
            <a:ext cx="3786600" cy="11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846000" y="831725"/>
            <a:ext cx="764700" cy="214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1683200" y="831725"/>
            <a:ext cx="764700" cy="214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73150" y="1235375"/>
            <a:ext cx="1178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what</a:t>
            </a:r>
            <a:endParaRPr sz="1200">
              <a:solidFill>
                <a:srgbClr val="FF0000"/>
              </a:solidFill>
              <a:latin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row(s) ?</a:t>
            </a:r>
            <a:endParaRPr sz="1200">
              <a:solidFill>
                <a:srgbClr val="FF0000"/>
              </a:solidFill>
              <a:latin typeface="Cabin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884650" y="1235375"/>
            <a:ext cx="1178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what</a:t>
            </a:r>
            <a:endParaRPr sz="1200">
              <a:solidFill>
                <a:srgbClr val="FF0000"/>
              </a:solidFill>
              <a:latin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column(s) ?</a:t>
            </a:r>
            <a:endParaRPr sz="1200">
              <a:solidFill>
                <a:srgbClr val="FF0000"/>
              </a:solidFill>
              <a:latin typeface="Cabin"/>
            </a:endParaRPr>
          </a:p>
        </p:txBody>
      </p:sp>
      <p:cxnSp>
        <p:nvCxnSpPr>
          <p:cNvPr id="131" name="Google Shape;131;p16"/>
          <p:cNvCxnSpPr>
            <a:stCxn id="128" idx="2"/>
            <a:endCxn id="130" idx="0"/>
          </p:cNvCxnSpPr>
          <p:nvPr/>
        </p:nvCxnSpPr>
        <p:spPr>
          <a:xfrm>
            <a:off x="2065550" y="1045925"/>
            <a:ext cx="408300" cy="18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132;p16"/>
          <p:cNvCxnSpPr>
            <a:stCxn id="127" idx="2"/>
            <a:endCxn id="129" idx="0"/>
          </p:cNvCxnSpPr>
          <p:nvPr/>
        </p:nvCxnSpPr>
        <p:spPr>
          <a:xfrm flipH="1">
            <a:off x="762150" y="1045925"/>
            <a:ext cx="466200" cy="18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" name="Google Shape;133;p16"/>
          <p:cNvSpPr/>
          <p:nvPr/>
        </p:nvSpPr>
        <p:spPr>
          <a:xfrm>
            <a:off x="5000925" y="359325"/>
            <a:ext cx="294900" cy="19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cxnSp>
        <p:nvCxnSpPr>
          <p:cNvPr id="134" name="Google Shape;134;p16"/>
          <p:cNvCxnSpPr/>
          <p:nvPr/>
        </p:nvCxnSpPr>
        <p:spPr>
          <a:xfrm flipH="1">
            <a:off x="5295825" y="354800"/>
            <a:ext cx="12000" cy="964500"/>
          </a:xfrm>
          <a:prstGeom prst="straightConnector1">
            <a:avLst/>
          </a:pr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5" name="Google Shape;135;p16"/>
          <p:cNvPicPr preferRelativeResize="0"/>
          <p:nvPr/>
        </p:nvPicPr>
        <p:blipFill rotWithShape="1">
          <a:blip r:embed="rId7">
            <a:alphaModFix/>
          </a:blip>
          <a:srcRect t="42808" r="59769"/>
          <a:stretch/>
        </p:blipFill>
        <p:spPr>
          <a:xfrm>
            <a:off x="699000" y="2233650"/>
            <a:ext cx="2849851" cy="2882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16"/>
          <p:cNvCxnSpPr/>
          <p:nvPr/>
        </p:nvCxnSpPr>
        <p:spPr>
          <a:xfrm>
            <a:off x="1635000" y="3978000"/>
            <a:ext cx="146100" cy="126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" name="Google Shape;137;p16"/>
          <p:cNvSpPr/>
          <p:nvPr/>
        </p:nvSpPr>
        <p:spPr>
          <a:xfrm>
            <a:off x="1699800" y="4033975"/>
            <a:ext cx="36000" cy="36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610700" y="3957775"/>
            <a:ext cx="36000" cy="360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30500" y="390000"/>
            <a:ext cx="10797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chemeClr val="dk2"/>
                </a:solidFill>
                <a:latin typeface="Cabin"/>
              </a:rPr>
              <a:t>TCs</a:t>
            </a:r>
            <a:endParaRPr sz="900" i="1">
              <a:solidFill>
                <a:schemeClr val="dk2"/>
              </a:solidFill>
              <a:latin typeface="Cabin"/>
            </a:endParaRPr>
          </a:p>
        </p:txBody>
      </p:sp>
      <p:cxnSp>
        <p:nvCxnSpPr>
          <p:cNvPr id="140" name="Google Shape;140;p16"/>
          <p:cNvCxnSpPr>
            <a:stCxn id="123" idx="1"/>
            <a:endCxn id="135" idx="1"/>
          </p:cNvCxnSpPr>
          <p:nvPr/>
        </p:nvCxnSpPr>
        <p:spPr>
          <a:xfrm>
            <a:off x="97800" y="1036800"/>
            <a:ext cx="601200" cy="2638200"/>
          </a:xfrm>
          <a:prstGeom prst="curvedConnector3">
            <a:avLst>
              <a:gd name="adj1" fmla="val 1063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1" name="Google Shape;141;p16"/>
          <p:cNvSpPr txBox="1"/>
          <p:nvPr/>
        </p:nvSpPr>
        <p:spPr>
          <a:xfrm>
            <a:off x="95250" y="1736350"/>
            <a:ext cx="25584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from The TC file</a:t>
            </a:r>
            <a:endParaRPr sz="1200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… to building the system matrix</a:t>
            </a:r>
            <a:endParaRPr sz="1200">
              <a:solidFill>
                <a:schemeClr val="dk1"/>
              </a:solidFill>
              <a:latin typeface="Cabin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853600" y="359325"/>
            <a:ext cx="408300" cy="19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pic>
        <p:nvPicPr>
          <p:cNvPr id="143" name="Google Shape;143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54250" y="2145313"/>
            <a:ext cx="2520000" cy="501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54250" y="2171500"/>
            <a:ext cx="2520000" cy="501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54250" y="2690500"/>
            <a:ext cx="2520000" cy="1891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854250" y="2667075"/>
            <a:ext cx="2520000" cy="206223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4560550" y="3525513"/>
            <a:ext cx="3699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Cabin"/>
              </a:rPr>
              <a:t>+</a:t>
            </a:r>
            <a:endParaRPr sz="1100" b="1">
              <a:solidFill>
                <a:schemeClr val="dk1"/>
              </a:solidFill>
              <a:latin typeface="Cabin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700800" y="2016925"/>
            <a:ext cx="6980400" cy="30432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2300" b="1">
                <a:solidFill>
                  <a:schemeClr val="dk2"/>
                </a:solidFill>
                <a:latin typeface="Cabin"/>
              </a:rPr>
              <a:t>SPARSE MATRIX </a:t>
            </a:r>
            <a:endParaRPr sz="2300" b="1">
              <a:solidFill>
                <a:schemeClr val="dk2"/>
              </a:solidFill>
              <a:latin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dk2"/>
                </a:solidFill>
                <a:latin typeface="Cabin"/>
              </a:rPr>
              <a:t>(only store non 0 entries)</a:t>
            </a:r>
          </a:p>
          <a:p>
            <a:pPr algn="ctr"/>
            <a:endParaRPr lang="en-GB" sz="2300" b="1">
              <a:solidFill>
                <a:schemeClr val="dk2"/>
              </a:solidFill>
              <a:latin typeface="Cabin"/>
            </a:endParaRPr>
          </a:p>
          <a:p>
            <a:pPr algn="ctr"/>
            <a:br>
              <a:rPr lang="en-GB" sz="2300" b="1">
                <a:solidFill>
                  <a:schemeClr val="dk2"/>
                </a:solidFill>
                <a:latin typeface="Cabin"/>
              </a:rPr>
            </a:br>
            <a:endParaRPr lang="en-GB" sz="2300" b="1">
              <a:solidFill>
                <a:schemeClr val="dk2"/>
              </a:solidFill>
              <a:latin typeface="Cabin"/>
            </a:endParaRPr>
          </a:p>
        </p:txBody>
      </p:sp>
      <p:sp>
        <p:nvSpPr>
          <p:cNvPr id="3" name="Google Shape;148;p16">
            <a:extLst>
              <a:ext uri="{FF2B5EF4-FFF2-40B4-BE49-F238E27FC236}">
                <a16:creationId xmlns:a16="http://schemas.microsoft.com/office/drawing/2014/main" id="{390E517F-B59D-3998-7A13-9A07D24ECAC3}"/>
              </a:ext>
            </a:extLst>
          </p:cNvPr>
          <p:cNvSpPr txBox="1"/>
          <p:nvPr/>
        </p:nvSpPr>
        <p:spPr>
          <a:xfrm>
            <a:off x="696038" y="2019306"/>
            <a:ext cx="6980400" cy="30432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2300" b="1">
              <a:solidFill>
                <a:schemeClr val="dk2"/>
              </a:solidFill>
              <a:latin typeface="Cabin"/>
            </a:endParaRPr>
          </a:p>
          <a:p>
            <a:pPr algn="ctr"/>
            <a:endParaRPr lang="en-GB" sz="2300" b="1">
              <a:solidFill>
                <a:schemeClr val="dk2"/>
              </a:solidFill>
              <a:latin typeface="Cabin"/>
            </a:endParaRPr>
          </a:p>
          <a:p>
            <a:pPr algn="ctr"/>
            <a:r>
              <a:rPr lang="en-GB" sz="2300" b="1">
                <a:solidFill>
                  <a:schemeClr val="dk2"/>
                </a:solidFill>
                <a:latin typeface="Cabin"/>
              </a:rPr>
              <a:t>+</a:t>
            </a:r>
          </a:p>
          <a:p>
            <a:pPr algn="ctr"/>
            <a:r>
              <a:rPr lang="en-GB" sz="2300" b="1">
                <a:solidFill>
                  <a:schemeClr val="dk2"/>
                </a:solidFill>
                <a:latin typeface="Cabin"/>
              </a:rPr>
              <a:t>No data reconciliation</a:t>
            </a:r>
            <a:br>
              <a:rPr lang="en-GB" sz="2300" b="1">
                <a:solidFill>
                  <a:schemeClr val="dk2"/>
                </a:solidFill>
                <a:latin typeface="Cabin"/>
              </a:rPr>
            </a:br>
            <a:r>
              <a:rPr lang="en-GB" sz="2300" b="1">
                <a:solidFill>
                  <a:schemeClr val="dk2"/>
                </a:solidFill>
                <a:latin typeface="Cabin"/>
              </a:rPr>
              <a:t>(consolidation step instead)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25" y="764650"/>
            <a:ext cx="4056837" cy="1742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0800" y="740835"/>
            <a:ext cx="3688373" cy="183581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1498525" y="151875"/>
            <a:ext cx="11781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Cabin"/>
              </a:rPr>
              <a:t>Example 1</a:t>
            </a:r>
            <a:endParaRPr sz="1200" b="1">
              <a:solidFill>
                <a:schemeClr val="dk1"/>
              </a:solidFill>
              <a:latin typeface="Cabin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5702650" y="151875"/>
            <a:ext cx="11781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Cabin"/>
              </a:rPr>
              <a:t>Example 2</a:t>
            </a:r>
            <a:endParaRPr sz="1200" b="1">
              <a:solidFill>
                <a:schemeClr val="dk1"/>
              </a:solidFill>
              <a:latin typeface="Cabin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0" y="4350000"/>
            <a:ext cx="78693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Laptop with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Intel Core</a:t>
            </a:r>
            <a:r>
              <a:rPr lang="en-GB" sz="1200">
                <a:solidFill>
                  <a:schemeClr val="dk1"/>
                </a:solidFill>
                <a:latin typeface="Cabin"/>
              </a:rPr>
              <a:t>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i7 10th</a:t>
            </a:r>
            <a:r>
              <a:rPr lang="en-GB" sz="1200">
                <a:solidFill>
                  <a:schemeClr val="dk1"/>
                </a:solidFill>
                <a:latin typeface="Cabin"/>
              </a:rPr>
              <a:t> gen (1.80GHz × 8) and </a:t>
            </a:r>
            <a:r>
              <a:rPr lang="en-GB" sz="1100" b="1">
                <a:solidFill>
                  <a:schemeClr val="dk1"/>
                </a:solidFill>
                <a:latin typeface="Cabin"/>
              </a:rPr>
              <a:t>16GB DDR4 RAM</a:t>
            </a:r>
            <a:r>
              <a:rPr lang="en-GB" sz="1100">
                <a:solidFill>
                  <a:schemeClr val="dk1"/>
                </a:solidFill>
                <a:latin typeface="Cabin"/>
              </a:rPr>
              <a:t>.</a:t>
            </a:r>
            <a:endParaRPr sz="1200">
              <a:solidFill>
                <a:schemeClr val="dk1"/>
              </a:solidFill>
              <a:latin typeface="Cabin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716275" y="2947500"/>
            <a:ext cx="2742600" cy="10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Dimensions =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(8, 3, 3, 3, 3)</a:t>
            </a: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Matrix size: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648 x 648</a:t>
            </a: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Equation setup: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0.7s</a:t>
            </a: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Equation solving: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0.15s</a:t>
            </a:r>
            <a:endParaRPr sz="1200" b="1">
              <a:solidFill>
                <a:schemeClr val="dk1"/>
              </a:solidFill>
              <a:latin typeface="Cabin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4920400" y="2923675"/>
            <a:ext cx="2742600" cy="10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Dimensions =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(8, 3, 4, 3, 3)</a:t>
            </a: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Matrix size: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864 x 864</a:t>
            </a: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Equation setup: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0.85s</a:t>
            </a: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Equation solving: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0.19s</a:t>
            </a:r>
            <a:endParaRPr sz="1200" b="1">
              <a:solidFill>
                <a:schemeClr val="dk1"/>
              </a:solidFill>
              <a:latin typeface="Cab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0" y="4350000"/>
            <a:ext cx="78693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Laptop with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Intel Core</a:t>
            </a:r>
            <a:r>
              <a:rPr lang="en-GB" sz="1200">
                <a:solidFill>
                  <a:schemeClr val="dk1"/>
                </a:solidFill>
                <a:latin typeface="Cabin"/>
              </a:rPr>
              <a:t>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i7 10th</a:t>
            </a:r>
            <a:r>
              <a:rPr lang="en-GB" sz="1200">
                <a:solidFill>
                  <a:schemeClr val="dk1"/>
                </a:solidFill>
                <a:latin typeface="Cabin"/>
              </a:rPr>
              <a:t> gen (1.80GHz × 8) and </a:t>
            </a:r>
            <a:r>
              <a:rPr lang="en-GB" sz="1100" b="1">
                <a:solidFill>
                  <a:schemeClr val="dk1"/>
                </a:solidFill>
                <a:latin typeface="Cabin"/>
              </a:rPr>
              <a:t>16GB DDR4 RAM</a:t>
            </a:r>
            <a:r>
              <a:rPr lang="en-GB" sz="1100">
                <a:solidFill>
                  <a:schemeClr val="dk1"/>
                </a:solidFill>
                <a:latin typeface="Cabin"/>
              </a:rPr>
              <a:t>.</a:t>
            </a:r>
            <a:endParaRPr sz="1200">
              <a:solidFill>
                <a:schemeClr val="dk1"/>
              </a:solidFill>
              <a:latin typeface="Cabin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3174500" y="3217125"/>
            <a:ext cx="2691300" cy="10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Dimensions =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(19, 8, 83, 31, 18)</a:t>
            </a: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Matrix size: ~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7.10⁶ x 7.10⁶</a:t>
            </a: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Equation setup: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10.3s</a:t>
            </a: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Equation solving: </a:t>
            </a:r>
            <a:r>
              <a:rPr lang="en-GB" sz="1200" b="1">
                <a:solidFill>
                  <a:schemeClr val="dk1"/>
                </a:solidFill>
                <a:latin typeface="Cabin"/>
              </a:rPr>
              <a:t>22.6s</a:t>
            </a:r>
            <a:endParaRPr sz="1200" b="1">
              <a:solidFill>
                <a:schemeClr val="dk1"/>
              </a:solidFill>
              <a:latin typeface="Cabin"/>
            </a:endParaRPr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1200" y="516725"/>
            <a:ext cx="5674803" cy="264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1083525" y="151875"/>
            <a:ext cx="21066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Cabin"/>
              </a:rPr>
              <a:t>Example 3 </a:t>
            </a:r>
            <a:r>
              <a:rPr lang="en-GB" sz="1200">
                <a:solidFill>
                  <a:schemeClr val="dk1"/>
                </a:solidFill>
                <a:latin typeface="Cabin"/>
              </a:rPr>
              <a:t>(with fake data)</a:t>
            </a:r>
            <a:endParaRPr sz="1200">
              <a:solidFill>
                <a:schemeClr val="dk1"/>
              </a:solidFill>
              <a:latin typeface="Cabin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759450" y="3217100"/>
            <a:ext cx="2691300" cy="10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bin"/>
              </a:rPr>
              <a:t>Memory (RAM) error at</a:t>
            </a:r>
            <a:endParaRPr sz="1200">
              <a:solidFill>
                <a:srgbClr val="FF0000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FF0000"/>
                </a:solidFill>
                <a:latin typeface="Cabin"/>
              </a:rPr>
              <a:t>~ 12.10⁶ x 12.10⁶  </a:t>
            </a:r>
            <a:r>
              <a:rPr lang="en-GB" sz="1200">
                <a:solidFill>
                  <a:srgbClr val="FF0000"/>
                </a:solidFill>
                <a:latin typeface="Cabin"/>
              </a:rPr>
              <a:t>(+13 flows)</a:t>
            </a:r>
            <a:endParaRPr sz="1200">
              <a:solidFill>
                <a:srgbClr val="FF0000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0000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b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400" y="1189900"/>
            <a:ext cx="5015451" cy="256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07925" y="151875"/>
            <a:ext cx="20511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Cabin"/>
              </a:rPr>
              <a:t>Aggregated results</a:t>
            </a:r>
            <a:endParaRPr sz="1200" b="1">
              <a:solidFill>
                <a:schemeClr val="dk1"/>
              </a:solidFill>
              <a:latin typeface="Cab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00" y="1123450"/>
            <a:ext cx="4761600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07925" y="151875"/>
            <a:ext cx="20511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Cabin"/>
              </a:rPr>
              <a:t>Disaggregated results</a:t>
            </a:r>
            <a:endParaRPr sz="1200" b="1">
              <a:solidFill>
                <a:schemeClr val="dk1"/>
              </a:solidFill>
              <a:latin typeface="Cabin"/>
            </a:endParaRPr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4">
            <a:alphaModFix/>
          </a:blip>
          <a:srcRect b="1729"/>
          <a:stretch/>
        </p:blipFill>
        <p:spPr>
          <a:xfrm>
            <a:off x="107900" y="1123450"/>
            <a:ext cx="6359499" cy="356594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2286475" y="1085750"/>
            <a:ext cx="459600" cy="3666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652750" y="1085750"/>
            <a:ext cx="778800" cy="3666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07900" y="2160100"/>
            <a:ext cx="6359400" cy="17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Cabin"/>
              </a:rPr>
              <a:t>…</a:t>
            </a:r>
            <a:endParaRPr sz="1100">
              <a:latin typeface="Cabin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107900" y="3010600"/>
            <a:ext cx="6359400" cy="17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Cabin"/>
              </a:rPr>
              <a:t>…</a:t>
            </a:r>
            <a:endParaRPr sz="1100">
              <a:latin typeface="Cabin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07950" y="3861100"/>
            <a:ext cx="6359400" cy="17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Cabin"/>
              </a:rPr>
              <a:t>…</a:t>
            </a:r>
            <a:endParaRPr sz="1100">
              <a:latin typeface="Cabin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107950" y="4517800"/>
            <a:ext cx="6359400" cy="17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Cabin"/>
              </a:rPr>
              <a:t>…</a:t>
            </a:r>
            <a:endParaRPr sz="1100">
              <a:latin typeface="Cab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/>
        </p:nvSpPr>
        <p:spPr>
          <a:xfrm>
            <a:off x="4503712" y="1030638"/>
            <a:ext cx="20511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1"/>
                </a:solidFill>
                <a:latin typeface="Cabin"/>
              </a:rPr>
              <a:t>And now?</a:t>
            </a:r>
            <a:endParaRPr sz="2500" b="1">
              <a:solidFill>
                <a:schemeClr val="dk1"/>
              </a:solidFill>
              <a:latin typeface="Cabin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551681" y="1881682"/>
            <a:ext cx="4284600" cy="13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</a:rPr>
              <a:t>Next step:</a:t>
            </a:r>
            <a:endParaRPr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bi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  <a:latin typeface="Cabin"/>
              </a:rPr>
              <a:t>Handle RAM limitations</a:t>
            </a:r>
            <a:endParaRPr>
              <a:solidFill>
                <a:schemeClr val="dk1"/>
              </a:solidFill>
              <a:latin typeface="Cabin"/>
            </a:endParaRPr>
          </a:p>
          <a:p>
            <a:pPr marL="457200" indent="-317500"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  <a:latin typeface="Cabin"/>
              </a:rPr>
              <a:t>Alignment with WP6 (formatting model output)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  <a:latin typeface="Cabin"/>
              </a:rPr>
              <a:t>From fake data to real case study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  <a:latin typeface="Cabin"/>
              </a:rPr>
              <a:t>WS workshops for using model/feedbacks</a:t>
            </a:r>
          </a:p>
        </p:txBody>
      </p:sp>
      <p:sp>
        <p:nvSpPr>
          <p:cNvPr id="179" name="Google Shape;179;p21"/>
          <p:cNvSpPr txBox="1"/>
          <p:nvPr/>
        </p:nvSpPr>
        <p:spPr>
          <a:xfrm>
            <a:off x="4551681" y="3573258"/>
            <a:ext cx="4284600" cy="12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</a:rPr>
              <a:t>Open questions:</a:t>
            </a:r>
            <a:endParaRPr>
              <a:solidFill>
                <a:schemeClr val="dk1"/>
              </a:solidFill>
              <a:latin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bi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  <a:latin typeface="Cabin"/>
              </a:rPr>
              <a:t>Data ranges? Quality?</a:t>
            </a:r>
          </a:p>
          <a:p>
            <a:pPr marL="457200" indent="-317500">
              <a:buClr>
                <a:schemeClr val="dk1"/>
              </a:buClr>
              <a:buSzPts val="1400"/>
              <a:buChar char="-"/>
            </a:pPr>
            <a:r>
              <a:rPr lang="en-US">
                <a:solidFill>
                  <a:schemeClr val="dk1"/>
                </a:solidFill>
                <a:latin typeface="Cabin"/>
              </a:rPr>
              <a:t>1 process = multiple technologies</a:t>
            </a:r>
          </a:p>
        </p:txBody>
      </p:sp>
    </p:spTree>
    <p:extLst>
      <p:ext uri="{BB962C8B-B14F-4D97-AF65-F5344CB8AC3E}">
        <p14:creationId xmlns:p14="http://schemas.microsoft.com/office/powerpoint/2010/main" val="404428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/>
        </p:nvSpPr>
        <p:spPr>
          <a:xfrm>
            <a:off x="4503712" y="1030638"/>
            <a:ext cx="20511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2500" b="1">
                <a:solidFill>
                  <a:schemeClr val="dk1"/>
                </a:solidFill>
              </a:rPr>
              <a:t>Appendix </a:t>
            </a:r>
            <a:endParaRPr lang="en-US" b="1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952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00" y="76200"/>
            <a:ext cx="7084800" cy="504512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557800" y="4801925"/>
            <a:ext cx="25443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</a:rPr>
              <a:t>A</a:t>
            </a:r>
            <a:endParaRPr sz="1200">
              <a:solidFill>
                <a:schemeClr val="dk1"/>
              </a:solidFill>
              <a:latin typeface="Cabin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768825" y="41875"/>
            <a:ext cx="3786600" cy="189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5524025" y="3337775"/>
            <a:ext cx="153900" cy="138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537" y="912274"/>
            <a:ext cx="2049172" cy="468000"/>
          </a:xfrm>
          <a:prstGeom prst="rect">
            <a:avLst/>
          </a:prstGeom>
          <a:noFill/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4" name="Google Shape;8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5487" y="912263"/>
            <a:ext cx="2044892" cy="468000"/>
          </a:xfrm>
          <a:prstGeom prst="rect">
            <a:avLst/>
          </a:prstGeom>
          <a:noFill/>
          <a:ln w="9525" cap="flat" cmpd="sng">
            <a:solidFill>
              <a:srgbClr val="783F04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85" name="Google Shape;85;p14"/>
          <p:cNvCxnSpPr>
            <a:cxnSpLocks/>
          </p:cNvCxnSpPr>
          <p:nvPr/>
        </p:nvCxnSpPr>
        <p:spPr>
          <a:xfrm flipV="1">
            <a:off x="5418709" y="1146274"/>
            <a:ext cx="606778" cy="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6" name="Google Shape;86;p14"/>
          <p:cNvSpPr txBox="1"/>
          <p:nvPr/>
        </p:nvSpPr>
        <p:spPr>
          <a:xfrm>
            <a:off x="5490962" y="862900"/>
            <a:ext cx="454500" cy="231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chemeClr val="dk2"/>
                </a:solidFill>
                <a:latin typeface="Cabin"/>
              </a:rPr>
              <a:t>0.29</a:t>
            </a:r>
            <a:endParaRPr sz="900" i="1">
              <a:solidFill>
                <a:schemeClr val="dk2"/>
              </a:solidFill>
              <a:latin typeface="Cabin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551250" y="2479225"/>
            <a:ext cx="333300" cy="277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b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150" y="248875"/>
            <a:ext cx="3588637" cy="11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/>
          <p:cNvPicPr preferRelativeResize="0"/>
          <p:nvPr/>
        </p:nvPicPr>
        <p:blipFill rotWithShape="1">
          <a:blip r:embed="rId4">
            <a:alphaModFix/>
          </a:blip>
          <a:srcRect t="27458" r="44438" b="10587"/>
          <a:stretch/>
        </p:blipFill>
        <p:spPr>
          <a:xfrm>
            <a:off x="312825" y="3166775"/>
            <a:ext cx="2936601" cy="15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813" y="2042288"/>
            <a:ext cx="441236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/>
          <p:nvPr/>
        </p:nvSpPr>
        <p:spPr>
          <a:xfrm>
            <a:off x="351575" y="3225100"/>
            <a:ext cx="576900" cy="879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351575" y="3225100"/>
            <a:ext cx="188100" cy="1153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351575" y="3225100"/>
            <a:ext cx="52500" cy="1445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351575" y="2298825"/>
            <a:ext cx="4328400" cy="194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351575" y="2493225"/>
            <a:ext cx="4328400" cy="231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351575" y="2732800"/>
            <a:ext cx="4328400" cy="194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351575" y="1827950"/>
            <a:ext cx="10797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chemeClr val="dk2"/>
                </a:solidFill>
              </a:rPr>
              <a:t>input composition</a:t>
            </a:r>
            <a:endParaRPr sz="900" i="1">
              <a:solidFill>
                <a:schemeClr val="dk2"/>
              </a:solidFill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4520600" y="536550"/>
            <a:ext cx="540000" cy="1635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6034100" y="536550"/>
            <a:ext cx="848400" cy="163500"/>
          </a:xfrm>
          <a:prstGeom prst="rect">
            <a:avLst/>
          </a:prstGeom>
          <a:solidFill>
            <a:srgbClr val="D9EAD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351575" y="2314275"/>
            <a:ext cx="2419500" cy="163500"/>
          </a:xfrm>
          <a:prstGeom prst="rect">
            <a:avLst/>
          </a:prstGeom>
          <a:solidFill>
            <a:srgbClr val="D9EAD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659400" y="2314275"/>
            <a:ext cx="1350900" cy="1635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6034100" y="738000"/>
            <a:ext cx="1127400" cy="163500"/>
          </a:xfrm>
          <a:prstGeom prst="rect">
            <a:avLst/>
          </a:prstGeom>
          <a:solidFill>
            <a:srgbClr val="D9EAD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6034100" y="936000"/>
            <a:ext cx="1427700" cy="163500"/>
          </a:xfrm>
          <a:prstGeom prst="rect">
            <a:avLst/>
          </a:prstGeom>
          <a:solidFill>
            <a:srgbClr val="D9EAD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4520600" y="738000"/>
            <a:ext cx="848400" cy="1635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4520600" y="936000"/>
            <a:ext cx="1127400" cy="1635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351575" y="2523550"/>
            <a:ext cx="3082800" cy="163500"/>
          </a:xfrm>
          <a:prstGeom prst="rect">
            <a:avLst/>
          </a:prstGeom>
          <a:solidFill>
            <a:srgbClr val="D9EAD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659400" y="2523550"/>
            <a:ext cx="2028000" cy="1635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351575" y="2748250"/>
            <a:ext cx="3731700" cy="163500"/>
          </a:xfrm>
          <a:prstGeom prst="rect">
            <a:avLst/>
          </a:prstGeom>
          <a:solidFill>
            <a:srgbClr val="D9EAD3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659400" y="2748250"/>
            <a:ext cx="2670000" cy="1635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24"/>
          <p:cNvPicPr preferRelativeResize="0"/>
          <p:nvPr/>
        </p:nvPicPr>
        <p:blipFill rotWithShape="1">
          <a:blip r:embed="rId6">
            <a:alphaModFix/>
          </a:blip>
          <a:srcRect t="42663" r="59769"/>
          <a:stretch/>
        </p:blipFill>
        <p:spPr>
          <a:xfrm>
            <a:off x="5183945" y="2133900"/>
            <a:ext cx="2849851" cy="288982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/>
          <p:nvPr/>
        </p:nvSpPr>
        <p:spPr>
          <a:xfrm>
            <a:off x="5422570" y="2378725"/>
            <a:ext cx="333300" cy="277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4" name="Google Shape;234;p24"/>
          <p:cNvCxnSpPr>
            <a:stCxn id="212" idx="0"/>
            <a:endCxn id="226" idx="1"/>
          </p:cNvCxnSpPr>
          <p:nvPr/>
        </p:nvCxnSpPr>
        <p:spPr>
          <a:xfrm rot="-5400000">
            <a:off x="2908543" y="430238"/>
            <a:ext cx="1222500" cy="2001600"/>
          </a:xfrm>
          <a:prstGeom prst="curvedConnector2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5" name="Google Shape;235;p24"/>
          <p:cNvCxnSpPr>
            <a:stCxn id="210" idx="2"/>
          </p:cNvCxnSpPr>
          <p:nvPr/>
        </p:nvCxnSpPr>
        <p:spPr>
          <a:xfrm flipH="1">
            <a:off x="5814195" y="1372394"/>
            <a:ext cx="485314" cy="1127076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725" y="480450"/>
            <a:ext cx="6592526" cy="334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1741375" y="4062850"/>
            <a:ext cx="56553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symbol ∅ is used to maintain a fixed length tuple (F, P, C, M, 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when considering an aggregated entity (left) or when an upper level is no longer present (right).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/>
        </p:nvSpPr>
        <p:spPr>
          <a:xfrm>
            <a:off x="1685025" y="3466000"/>
            <a:ext cx="52668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</a:t>
            </a:r>
            <a:r>
              <a:rPr lang="en-GB" sz="1800">
                <a:solidFill>
                  <a:schemeClr val="accent1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, C</a:t>
            </a:r>
            <a:r>
              <a:rPr lang="en-GB" sz="1800">
                <a:solidFill>
                  <a:schemeClr val="accent1"/>
                </a:solidFill>
              </a:rPr>
              <a:t>4</a:t>
            </a:r>
            <a:r>
              <a:rPr lang="en-GB" sz="1800">
                <a:solidFill>
                  <a:schemeClr val="dk2"/>
                </a:solidFill>
              </a:rPr>
              <a:t>, M</a:t>
            </a:r>
            <a:r>
              <a:rPr lang="en-GB" sz="1800">
                <a:solidFill>
                  <a:schemeClr val="accent1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, E</a:t>
            </a:r>
            <a:r>
              <a:rPr lang="en-GB" sz="1800">
                <a:solidFill>
                  <a:schemeClr val="accent1"/>
                </a:solidFill>
              </a:rPr>
              <a:t>8</a:t>
            </a:r>
            <a:r>
              <a:rPr lang="en-GB" sz="1800">
                <a:solidFill>
                  <a:schemeClr val="dk2"/>
                </a:solidFill>
              </a:rPr>
              <a:t>    →    index = </a:t>
            </a:r>
            <a:r>
              <a:rPr lang="en-GB" sz="1800">
                <a:solidFill>
                  <a:schemeClr val="accent1"/>
                </a:solidFill>
              </a:rPr>
              <a:t>1428</a:t>
            </a:r>
            <a:endParaRPr sz="1800">
              <a:solidFill>
                <a:schemeClr val="accent1"/>
              </a:solidFill>
            </a:endParaRPr>
          </a:p>
        </p:txBody>
      </p:sp>
      <p:pic>
        <p:nvPicPr>
          <p:cNvPr id="247" name="Google Shape;2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6125" y="195600"/>
            <a:ext cx="3724583" cy="316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13" y="76200"/>
            <a:ext cx="446558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"/>
          <p:cNvSpPr/>
          <p:nvPr/>
        </p:nvSpPr>
        <p:spPr>
          <a:xfrm>
            <a:off x="206650" y="434050"/>
            <a:ext cx="259200" cy="4581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206650" y="996375"/>
            <a:ext cx="259200" cy="4581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206650" y="1558700"/>
            <a:ext cx="259200" cy="4581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7"/>
          <p:cNvSpPr/>
          <p:nvPr/>
        </p:nvSpPr>
        <p:spPr>
          <a:xfrm>
            <a:off x="206650" y="2121025"/>
            <a:ext cx="259200" cy="4581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206650" y="3316350"/>
            <a:ext cx="259200" cy="4581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5325375" y="2197850"/>
            <a:ext cx="2154000" cy="27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Inferences made when processing the TC file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487076-d980-4c16-b3a0-35f4936cd682">
      <Terms xmlns="http://schemas.microsoft.com/office/infopath/2007/PartnerControls"/>
    </lcf76f155ced4ddcb4097134ff3c332f>
    <TaxCatchAll xmlns="285f0efd-af34-4a8f-9bb5-f528a47a14a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4358C7B99E24DB5B0DBF2D0977AEF" ma:contentTypeVersion="17" ma:contentTypeDescription="Create a new document." ma:contentTypeScope="" ma:versionID="0d1e8c85a92716138bcfe49cb33e8d42">
  <xsd:schema xmlns:xsd="http://www.w3.org/2001/XMLSchema" xmlns:xs="http://www.w3.org/2001/XMLSchema" xmlns:p="http://schemas.microsoft.com/office/2006/metadata/properties" xmlns:ns2="285f0efd-af34-4a8f-9bb5-f528a47a14ae" xmlns:ns3="07487076-d980-4c16-b3a0-35f4936cd682" targetNamespace="http://schemas.microsoft.com/office/2006/metadata/properties" ma:root="true" ma:fieldsID="545d45c0c04a0e1e64799a8d82e1e385" ns2:_="" ns3:_="">
    <xsd:import namespace="285f0efd-af34-4a8f-9bb5-f528a47a14ae"/>
    <xsd:import namespace="07487076-d980-4c16-b3a0-35f4936cd6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5f0efd-af34-4a8f-9bb5-f528a47a14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38802dd-c190-468b-a241-0a2f21652004}" ma:internalName="TaxCatchAll" ma:showField="CatchAllData" ma:web="285f0efd-af34-4a8f-9bb5-f528a47a14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87076-d980-4c16-b3a0-35f4936cd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bbb71e-5fe6-4563-8435-a771e3fe8d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5D4481-1C2E-4A75-8DD3-7D2217035AC6}">
  <ds:schemaRefs>
    <ds:schemaRef ds:uri="07487076-d980-4c16-b3a0-35f4936cd682"/>
    <ds:schemaRef ds:uri="285f0efd-af34-4a8f-9bb5-f528a47a14a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1F1EBE9-5298-4AE2-A485-B114BFC0F5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E49B73-ECCD-4D68-B902-69A14397520F}">
  <ds:schemaRefs>
    <ds:schemaRef ds:uri="07487076-d980-4c16-b3a0-35f4936cd682"/>
    <ds:schemaRef ds:uri="285f0efd-af34-4a8f-9bb5-f528a47a14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2</cp:revision>
  <dcterms:modified xsi:type="dcterms:W3CDTF">2024-06-06T10:22:44Z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0x010100FF34358C7B99E24DB5B0DBF2D0977AEF</vt:lpwstr>
  </property>
  <property fmtid="{D5CDD505-2E9C-101B-9397-08002B2CF9AE}" pid="3" name="MediaServiceImageTags">
    <vt:lpwstr/>
  </property>
</Properties>
</file>