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7" r:id="rId5"/>
  </p:sldMasterIdLst>
  <p:notesMasterIdLst>
    <p:notesMasterId r:id="rId19"/>
  </p:notesMasterIdLst>
  <p:sldIdLst>
    <p:sldId id="256" r:id="rId6"/>
    <p:sldId id="329" r:id="rId7"/>
    <p:sldId id="278" r:id="rId8"/>
    <p:sldId id="318" r:id="rId9"/>
    <p:sldId id="324" r:id="rId10"/>
    <p:sldId id="326" r:id="rId11"/>
    <p:sldId id="323" r:id="rId12"/>
    <p:sldId id="288" r:id="rId13"/>
    <p:sldId id="327" r:id="rId14"/>
    <p:sldId id="322" r:id="rId15"/>
    <p:sldId id="325" r:id="rId16"/>
    <p:sldId id="321" r:id="rId17"/>
    <p:sldId id="32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E4A277-DC2F-5C86-E653-2A8E79B208C2}" name="Maria Ljunggren" initials="ML" userId="S::marialj@chalmers.se::bdcf9824-3874-470b-9cdc-5780fee1a4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D2882-D1EB-779B-8DB5-9A3297546C75}" v="20" dt="2023-07-11T09:19:57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0" autoAdjust="0"/>
    <p:restoredTop sz="90283" autoAdjust="0"/>
  </p:normalViewPr>
  <p:slideViewPr>
    <p:cSldViewPr snapToGrid="0">
      <p:cViewPr varScale="1">
        <p:scale>
          <a:sx n="99" d="100"/>
          <a:sy n="99" d="100"/>
        </p:scale>
        <p:origin x="3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Dowall, S.C. (Stewart)" userId="S::s.c.mcdowall_cml.leidenuniv.nl#ext#@weeeforum.onmicrosoft.com::8e52c618-aa7e-4478-bf5e-d8b66f2796b1" providerId="AD" clId="Web-{58DD2882-D1EB-779B-8DB5-9A3297546C75}"/>
    <pc:docChg chg="modSld">
      <pc:chgData name="McDowall, S.C. (Stewart)" userId="S::s.c.mcdowall_cml.leidenuniv.nl#ext#@weeeforum.onmicrosoft.com::8e52c618-aa7e-4478-bf5e-d8b66f2796b1" providerId="AD" clId="Web-{58DD2882-D1EB-779B-8DB5-9A3297546C75}" dt="2023-07-11T09:19:23.231" v="8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58DD2882-D1EB-779B-8DB5-9A3297546C75}" dt="2023-07-11T09:19:23.231" v="8" actId="20577"/>
        <pc:sldMkLst>
          <pc:docMk/>
          <pc:sldMk cId="1510901603" sldId="324"/>
        </pc:sldMkLst>
        <pc:spChg chg="mod">
          <ac:chgData name="McDowall, S.C. (Stewart)" userId="S::s.c.mcdowall_cml.leidenuniv.nl#ext#@weeeforum.onmicrosoft.com::8e52c618-aa7e-4478-bf5e-d8b66f2796b1" providerId="AD" clId="Web-{58DD2882-D1EB-779B-8DB5-9A3297546C75}" dt="2023-07-11T09:19:23.231" v="8" actId="20577"/>
          <ac:spMkLst>
            <pc:docMk/>
            <pc:sldMk cId="1510901603" sldId="324"/>
            <ac:spMk id="14" creationId="{AC3B730C-AA92-4AE4-C6D3-A90DA409A7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C22D0-8E27-4C6F-9448-08414ACABBA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7C20F-FD83-4E8F-B931-E1DBC93BE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0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Tag bort för mycket intro. Gå mer på approach/</a:t>
            </a:r>
            <a:r>
              <a:rPr lang="sv-SE" dirty="0" err="1"/>
              <a:t>methodology</a:t>
            </a:r>
            <a:r>
              <a:rPr lang="sv-SE" dirty="0"/>
              <a:t>. Skilj på </a:t>
            </a:r>
            <a:r>
              <a:rPr lang="sv-SE" dirty="0" err="1"/>
              <a:t>emerging</a:t>
            </a:r>
            <a:r>
              <a:rPr lang="sv-SE" dirty="0"/>
              <a:t>/</a:t>
            </a:r>
            <a:r>
              <a:rPr lang="sv-SE" dirty="0" err="1"/>
              <a:t>existing</a:t>
            </a:r>
            <a:r>
              <a:rPr lang="sv-SE" dirty="0"/>
              <a:t> </a:t>
            </a:r>
            <a:r>
              <a:rPr lang="sv-SE" dirty="0" err="1"/>
              <a:t>tech</a:t>
            </a:r>
            <a:r>
              <a:rPr lang="sv-SE" dirty="0"/>
              <a:t>. Lägg in </a:t>
            </a:r>
            <a:r>
              <a:rPr lang="sv-SE" dirty="0" err="1"/>
              <a:t>recovery</a:t>
            </a:r>
            <a:r>
              <a:rPr lang="sv-SE" dirty="0"/>
              <a:t> o </a:t>
            </a:r>
            <a:r>
              <a:rPr lang="sv-SE" dirty="0" err="1"/>
              <a:t>product</a:t>
            </a:r>
            <a:r>
              <a:rPr lang="sv-SE" dirty="0"/>
              <a:t> </a:t>
            </a:r>
            <a:r>
              <a:rPr lang="sv-SE" dirty="0" err="1"/>
              <a:t>tech</a:t>
            </a:r>
            <a:r>
              <a:rPr lang="sv-SE" dirty="0"/>
              <a:t>. Tänk igenom new, </a:t>
            </a:r>
            <a:r>
              <a:rPr lang="sv-SE" dirty="0" err="1"/>
              <a:t>phasing</a:t>
            </a:r>
            <a:r>
              <a:rPr lang="sv-SE" dirty="0"/>
              <a:t> in/</a:t>
            </a:r>
            <a:r>
              <a:rPr lang="sv-SE" dirty="0" err="1"/>
              <a:t>out</a:t>
            </a:r>
            <a:r>
              <a:rPr lang="sv-SE" dirty="0"/>
              <a:t>. Se över approach. Skriv </a:t>
            </a:r>
            <a:r>
              <a:rPr lang="sv-SE" dirty="0" err="1"/>
              <a:t>next</a:t>
            </a:r>
            <a:r>
              <a:rPr lang="sv-SE" dirty="0"/>
              <a:t> steps. Tänk igenom </a:t>
            </a:r>
            <a:r>
              <a:rPr lang="sv-SE" dirty="0" err="1"/>
              <a:t>recovery</a:t>
            </a:r>
            <a:r>
              <a:rPr lang="sv-SE" dirty="0"/>
              <a:t> </a:t>
            </a:r>
            <a:r>
              <a:rPr lang="sv-SE" dirty="0" err="1"/>
              <a:t>targets</a:t>
            </a:r>
            <a:r>
              <a:rPr lang="sv-SE" dirty="0"/>
              <a:t> och hur modellera dem, vilka är de – BAT och CRM </a:t>
            </a:r>
            <a:r>
              <a:rPr lang="sv-SE" dirty="0" err="1"/>
              <a:t>act</a:t>
            </a:r>
            <a:r>
              <a:rPr lang="sv-SE" dirty="0"/>
              <a:t>. Se över CRM </a:t>
            </a:r>
            <a:r>
              <a:rPr lang="sv-SE"/>
              <a:t>som begrepp. 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7C20F-FD83-4E8F-B931-E1DBC93BE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0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96640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 dirty="0">
                <a:latin typeface="Cabin" pitchFamily="2" charset="77"/>
                <a:cs typeface="Calibri Light"/>
              </a:rPr>
              <a:t>Contents</a:t>
            </a:r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2387600" y="5665679"/>
            <a:ext cx="277768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endParaRPr lang="en-US" sz="3000" b="1" dirty="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173347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Cabin" pitchFamily="2" charset="77"/>
                <a:cs typeface="Calibri"/>
              </a:rPr>
              <a:t>01.</a:t>
            </a:r>
            <a:endParaRPr lang="en-US" sz="4000" b="1" dirty="0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 chapter</a:t>
            </a:r>
            <a:endParaRPr lang="de-DE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13938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 sub chapter</a:t>
            </a:r>
            <a:endParaRPr lang="de-DE" dirty="0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9244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658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 dirty="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2734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 dirty="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389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1718893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495928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404868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an image &amp; text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310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 dirty="0">
                <a:latin typeface="Cabin" pitchFamily="2" charset="77"/>
                <a:cs typeface="Calibri Light"/>
              </a:rPr>
              <a:t>This is a large image &amp; text</a:t>
            </a:r>
            <a:endParaRPr lang="de-DE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9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3583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latin typeface="Cabin" pitchFamily="2" charset="77"/>
                <a:cs typeface="Calibri Light"/>
              </a:rPr>
              <a:t>Contact details</a:t>
            </a:r>
            <a:endParaRPr lang="en-US" b="1" dirty="0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 dirty="0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 dirty="0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 dirty="0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40875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 dirty="0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99752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FFB80-79CE-EDBC-212B-4911F85B0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8EEB91-DED1-4F89-30B0-4325A3854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E8A0A6-6229-91E5-528D-30D945EE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CE536A-E361-0138-AB29-AAFBF282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D01CC7-F235-BA68-DB1B-72C58E0E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28097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4DCCB-FC98-6047-A3BE-DBB8019F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D1FA7F-0660-30E2-7053-FD52B74D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5C92CA-C823-3700-7A03-5E93037C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70216A-4436-9430-9559-7CFACF0D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22C3D7-5E5A-5672-D4F8-233CA6AA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44396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8C3DA-5ACA-FAA7-C6B3-63DDC5F3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840CD6-7F17-37E2-6122-6501DC7D0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81DF01-A718-0C5E-DF6C-63194633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BAEAFB-82BE-A0AE-0D1D-475B6F46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BB978B-5BF9-A6A2-AE19-98D4E7F1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0249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902519-0A5D-3733-60F2-73EB21B0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3A395-9F9F-A1CB-0238-1985808F2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C7145F-AE26-E98B-7716-AB49EFD1D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9B72D6-B366-681C-416F-EA29F19F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F47B32-956B-9D10-C62C-77C70385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7BB928-C9F0-0980-3966-D49842DD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2536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0BDFB-7BE5-107C-460F-EF139A3A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C0B5E6-0D69-51D3-198F-E68290D05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3E2673-2D8C-BDB1-DBFD-8188DB1D3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2EBFC7-2B25-E32D-3F01-912C55C9B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8AD6CF-BBFF-3622-A090-CA56C6665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9FE38EC-6D59-5C93-974F-9134A046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9957C5-F4CD-93E8-C342-CA8990E3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DDB8BD-1C1A-4F36-A859-1747087C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19023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2A226-C53F-E6CE-6325-A6D4BDF0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B48B9C-AD4F-CEE4-253E-24465623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066C81-3DF8-9A92-6300-11F0CF39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BE79E1-675B-BC23-624C-194E2BBE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5613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E0473D-CD84-A018-C917-27BCB133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30A09A-E0D7-942A-9423-4E7DF5A0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B93BB0-EDDA-CEEB-523D-7A07C6EA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9403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52C3-6237-725E-02A1-3AB91969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3D24BA-090C-F873-02FC-EE2C9629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304CFA-238E-3B4E-20F7-E6F9A0D34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0F984-411B-03B2-AA84-E4021504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F36084-465C-1F00-718D-26DC0F1D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40FD81-E3AE-D00B-2CF7-3A1FE598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60884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D3E890-1252-E034-0B97-4ADFD4C6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80A6FA-9BD9-5956-2EDC-1C02323A0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F25CB8-CC4A-3CA1-1492-853CB2452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143ECA-13C5-B1BF-6AC2-98965910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55BA70-D989-AEEC-8AE7-CA6B4E42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8643FD-AE12-8F49-8EFC-D74CDDF0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90216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8C1781-956C-EA6D-3394-49F2BBB3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BAD34B-DC10-16E7-7AB2-C746A669D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8C26A4-730F-6D98-55FA-F12FD2D4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0B0CD3-9384-8CCF-1E40-D8E045C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E9651C-6A1B-F812-D8FD-52B3B82B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266522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807EAB7-E43A-6FE3-1D3C-A81590196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7E7396-E8CD-A725-6EC2-F86D3EB7A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0D7E0A-B01A-E996-024C-FA33A8AA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A02D22-108B-2622-5B52-9D0C4A77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4CA886-418E-7748-B039-E2B43688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278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54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4D6074-1790-9391-6257-06EEA367C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4F24B-A24C-8E49-816E-269639742946}" type="datetimeFigureOut">
              <a:rPr lang="fr-FR" smtClean="0"/>
              <a:t>11/07/2023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FE443-2282-FD8E-8F5B-E9503E338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67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8A0E66-E20D-62B2-B644-571486113809}"/>
              </a:ext>
            </a:extLst>
          </p:cNvPr>
          <p:cNvSpPr/>
          <p:nvPr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9D6CB-1AAB-5E54-E0CB-4170D0E7B7EB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27272" y="1833387"/>
            <a:ext cx="6377866" cy="2795763"/>
          </a:xfrm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latin typeface="Cabin SemiBold"/>
                <a:cs typeface="Calibri Light"/>
              </a:rPr>
              <a:t>Future technology: </a:t>
            </a:r>
            <a:br>
              <a:rPr lang="en-US" b="1" dirty="0">
                <a:solidFill>
                  <a:schemeClr val="bg1"/>
                </a:solidFill>
                <a:latin typeface="Cabin SemiBold"/>
                <a:cs typeface="Calibri Light"/>
              </a:rPr>
            </a:br>
            <a:r>
              <a:rPr lang="en-US" b="1" dirty="0">
                <a:solidFill>
                  <a:schemeClr val="bg1"/>
                </a:solidFill>
                <a:latin typeface="Cabin SemiBold"/>
                <a:cs typeface="Calibri Light"/>
              </a:rPr>
              <a:t>first outline of a methodological approach for SF modelling</a:t>
            </a:r>
            <a:br>
              <a:rPr lang="en-US" sz="4800" b="1" dirty="0">
                <a:latin typeface="Cabin SemiBold"/>
                <a:cs typeface="Calibri Light"/>
              </a:rPr>
            </a:br>
            <a:br>
              <a:rPr lang="en-US" sz="4800" b="1" baseline="-25000" dirty="0">
                <a:latin typeface="Cabin"/>
                <a:cs typeface="+mj-lt"/>
              </a:rPr>
            </a:br>
            <a:r>
              <a:rPr lang="en-US" sz="2000" b="1" baseline="-25000" dirty="0">
                <a:solidFill>
                  <a:schemeClr val="bg1"/>
                </a:solidFill>
                <a:latin typeface="Cabin SemiBold"/>
                <a:cs typeface="Calibri Light"/>
              </a:rPr>
              <a:t>16/06/23 Maria Ljunggren</a:t>
            </a:r>
            <a:endParaRPr lang="en-US" sz="2000" b="1" baseline="-25000" dirty="0">
              <a:solidFill>
                <a:schemeClr val="bg1"/>
              </a:solidFill>
              <a:latin typeface="Cabin SemiBold" pitchFamily="2" charset="77"/>
              <a:cs typeface="Calibri Ligh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63AD0A3-6FD2-9F2B-F2EC-4D2B5C36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10" name="Image 9" descr="Une image contenant texte&#10;&#10;Description générée automatiquement">
            <a:extLst>
              <a:ext uri="{FF2B5EF4-FFF2-40B4-BE49-F238E27FC236}">
                <a16:creationId xmlns:a16="http://schemas.microsoft.com/office/drawing/2014/main" id="{13BEFBF0-C7B8-DEFD-67D4-98E66BD167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6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FE4F6F2-3D14-A68E-C172-84F27D545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980" y="5575403"/>
            <a:ext cx="3029975" cy="65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92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129A-FFC9-9A4B-EA8A-B56A2399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WP2-WP3-WP4 </a:t>
            </a:r>
            <a:r>
              <a:rPr lang="sv-SE" dirty="0" err="1"/>
              <a:t>interdependencies</a:t>
            </a:r>
            <a:endParaRPr lang="sv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EEE66-E1C8-7A1E-CD16-19F5FBAB79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43"/>
          <a:stretch/>
        </p:blipFill>
        <p:spPr>
          <a:xfrm>
            <a:off x="629307" y="1216853"/>
            <a:ext cx="9133612" cy="47098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48E446-79DB-5A48-D8C9-EF596DE9C2D9}"/>
              </a:ext>
            </a:extLst>
          </p:cNvPr>
          <p:cNvSpPr/>
          <p:nvPr/>
        </p:nvSpPr>
        <p:spPr>
          <a:xfrm>
            <a:off x="4525951" y="2336339"/>
            <a:ext cx="1394625" cy="18428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C97D2-C3CE-395B-E1CB-8DB8B59EA39F}"/>
              </a:ext>
            </a:extLst>
          </p:cNvPr>
          <p:cNvSpPr txBox="1"/>
          <p:nvPr/>
        </p:nvSpPr>
        <p:spPr>
          <a:xfrm>
            <a:off x="6624596" y="1144699"/>
            <a:ext cx="1871509" cy="91440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0" tIns="0" rIns="0" bIns="0" rtlCol="0" anchor="ctr">
            <a:noAutofit/>
          </a:bodyPr>
          <a:lstStyle/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What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general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development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until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2050? </a:t>
            </a:r>
          </a:p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How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does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the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development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differ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between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scenarios?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C467D4B-FA1C-5A98-0778-23A6D519C38A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5815326" y="1601899"/>
            <a:ext cx="809271" cy="1052572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28466C-4983-9472-0A11-B2E6D76F47FD}"/>
              </a:ext>
            </a:extLst>
          </p:cNvPr>
          <p:cNvSpPr txBox="1"/>
          <p:nvPr/>
        </p:nvSpPr>
        <p:spPr>
          <a:xfrm>
            <a:off x="6165203" y="5472178"/>
            <a:ext cx="1871509" cy="91440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0" tIns="0" rIns="0" bIns="0" rtlCol="0" anchor="ctr">
            <a:noAutofit/>
          </a:bodyPr>
          <a:lstStyle/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What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technologies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can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become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available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until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2050? </a:t>
            </a:r>
          </a:p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How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does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technologies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and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their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availability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differ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between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scenarios?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18F5C71-FC36-DECD-7EDA-E4D4B8C07B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55498" y="4319789"/>
            <a:ext cx="2609553" cy="471454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E60779-96A7-B848-EC6D-3A9E953F825B}"/>
              </a:ext>
            </a:extLst>
          </p:cNvPr>
          <p:cNvSpPr txBox="1"/>
          <p:nvPr/>
        </p:nvSpPr>
        <p:spPr>
          <a:xfrm>
            <a:off x="3158866" y="5926721"/>
            <a:ext cx="1871509" cy="91440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0" tIns="0" rIns="0" bIns="0" rtlCol="0" anchor="ctr">
            <a:noAutofit/>
          </a:bodyPr>
          <a:lstStyle/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What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is the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composition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of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the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products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identified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in T2.2? </a:t>
            </a:r>
          </a:p>
          <a:p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How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does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the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composition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differ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</a:t>
            </a:r>
            <a:r>
              <a:rPr lang="sv-SE" sz="1100" i="1" dirty="0" err="1">
                <a:highlight>
                  <a:srgbClr val="FFFF00"/>
                </a:highlight>
                <a:latin typeface="Cabin" pitchFamily="2" charset="77"/>
                <a:cs typeface="Calibri Light"/>
              </a:rPr>
              <a:t>between</a:t>
            </a:r>
            <a:r>
              <a:rPr lang="sv-SE" sz="1100" i="1" dirty="0">
                <a:highlight>
                  <a:srgbClr val="FFFF00"/>
                </a:highlight>
                <a:latin typeface="Cabin" pitchFamily="2" charset="77"/>
                <a:cs typeface="Calibri Light"/>
              </a:rPr>
              <a:t> scenarios?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765D1AC-491B-5D08-B409-46832AA941FE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87615" y="4913888"/>
            <a:ext cx="2249069" cy="236453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9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8136" y="428488"/>
            <a:ext cx="9954936" cy="554400"/>
          </a:xfrm>
        </p:spPr>
        <p:txBody>
          <a:bodyPr>
            <a:normAutofit/>
          </a:bodyPr>
          <a:lstStyle/>
          <a:p>
            <a:r>
              <a:rPr lang="en-US" sz="4000" b="1" dirty="0"/>
              <a:t>Why consider technology development?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9443" y="1296450"/>
            <a:ext cx="10689707" cy="5333027"/>
          </a:xfrm>
        </p:spPr>
        <p:txBody>
          <a:bodyPr/>
          <a:lstStyle/>
          <a:p>
            <a:r>
              <a:rPr lang="en-US" sz="2000" b="1" dirty="0"/>
              <a:t>Products develop over time =&gt; waste quantity and composition change over time </a:t>
            </a:r>
          </a:p>
          <a:p>
            <a:r>
              <a:rPr lang="en-US" sz="2000" b="1" dirty="0"/>
              <a:t>Recovery processes develop over time =&gt; recovery pathways and their efficiency change over time</a:t>
            </a:r>
          </a:p>
          <a:p>
            <a:r>
              <a:rPr lang="en-US" sz="2000" b="1" dirty="0"/>
              <a:t>Scenarios can explore (not predict) these changes over time </a:t>
            </a:r>
            <a:br>
              <a:rPr lang="en-US" sz="2000" b="1" dirty="0"/>
            </a:br>
            <a:r>
              <a:rPr lang="en-US" sz="1600" dirty="0"/>
              <a:t>Datasets covering ~50 years (2000-2050?) and 27+4 MS/EU total in three scenarios could be provided </a:t>
            </a:r>
            <a:br>
              <a:rPr lang="en-US" sz="1600" dirty="0"/>
            </a:br>
            <a:r>
              <a:rPr lang="en-US" sz="1600" dirty="0"/>
              <a:t>for all(?) waste streams using </a:t>
            </a:r>
            <a:r>
              <a:rPr lang="en-US" sz="1600" dirty="0" err="1"/>
              <a:t>dMFA</a:t>
            </a:r>
            <a:r>
              <a:rPr lang="en-US" sz="1600" dirty="0"/>
              <a:t> modelling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F00A61-3679-8082-A03E-58D314B70E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93"/>
          <a:stretch/>
        </p:blipFill>
        <p:spPr>
          <a:xfrm>
            <a:off x="1475250" y="4017109"/>
            <a:ext cx="5077950" cy="24124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DB3B8B-328C-157B-7E04-47227A80F2CE}"/>
              </a:ext>
            </a:extLst>
          </p:cNvPr>
          <p:cNvSpPr txBox="1"/>
          <p:nvPr/>
        </p:nvSpPr>
        <p:spPr>
          <a:xfrm>
            <a:off x="1475250" y="6172277"/>
            <a:ext cx="2356834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600" dirty="0" err="1">
                <a:latin typeface="Cabin" pitchFamily="2" charset="77"/>
                <a:cs typeface="Calibri Light"/>
              </a:rPr>
              <a:t>History</a:t>
            </a:r>
            <a:r>
              <a:rPr lang="sv-SE" sz="1600" dirty="0">
                <a:latin typeface="Cabin" pitchFamily="2" charset="77"/>
                <a:cs typeface="Calibri Light"/>
              </a:rPr>
              <a:t>: </a:t>
            </a:r>
            <a:r>
              <a:rPr lang="sv-SE" sz="1600" dirty="0" err="1">
                <a:latin typeface="Cabin" pitchFamily="2" charset="77"/>
                <a:cs typeface="Calibri Light"/>
              </a:rPr>
              <a:t>based</a:t>
            </a:r>
            <a:r>
              <a:rPr lang="sv-SE" sz="1600" dirty="0">
                <a:latin typeface="Cabin" pitchFamily="2" charset="77"/>
                <a:cs typeface="Calibri Light"/>
              </a:rPr>
              <a:t> on </a:t>
            </a:r>
            <a:r>
              <a:rPr lang="sv-SE" sz="1600" dirty="0" err="1">
                <a:latin typeface="Cabin" pitchFamily="2" charset="77"/>
                <a:cs typeface="Calibri Light"/>
              </a:rPr>
              <a:t>reported</a:t>
            </a:r>
            <a:r>
              <a:rPr lang="sv-SE" sz="1600" dirty="0">
                <a:latin typeface="Cabin" pitchFamily="2" charset="77"/>
                <a:cs typeface="Calibri Light"/>
              </a:rPr>
              <a:t>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A4D95-3B8B-A34C-74D7-AEB16A7D16F5}"/>
              </a:ext>
            </a:extLst>
          </p:cNvPr>
          <p:cNvSpPr txBox="1"/>
          <p:nvPr/>
        </p:nvSpPr>
        <p:spPr>
          <a:xfrm>
            <a:off x="1475250" y="3358103"/>
            <a:ext cx="6065006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100" b="1" dirty="0" err="1">
                <a:latin typeface="Cabin" pitchFamily="2" charset="77"/>
                <a:cs typeface="Calibri Light"/>
              </a:rPr>
              <a:t>Example</a:t>
            </a:r>
            <a:r>
              <a:rPr lang="sv-SE" sz="1100" b="1" dirty="0">
                <a:latin typeface="Cabin" pitchFamily="2" charset="77"/>
                <a:cs typeface="Calibri Light"/>
              </a:rPr>
              <a:t>: Silver in </a:t>
            </a:r>
            <a:r>
              <a:rPr lang="sv-SE" sz="1100" b="1" dirty="0" err="1">
                <a:latin typeface="Cabin" pitchFamily="2" charset="77"/>
                <a:cs typeface="Calibri Light"/>
              </a:rPr>
              <a:t>vehicles</a:t>
            </a:r>
            <a:r>
              <a:rPr lang="sv-SE" sz="1100" b="1" dirty="0">
                <a:latin typeface="Cabin" pitchFamily="2" charset="77"/>
                <a:cs typeface="Calibri Light"/>
              </a:rPr>
              <a:t> </a:t>
            </a:r>
            <a:r>
              <a:rPr lang="sv-SE" sz="1100" b="1" dirty="0" err="1">
                <a:latin typeface="Cabin" pitchFamily="2" charset="77"/>
                <a:cs typeface="Calibri Light"/>
              </a:rPr>
              <a:t>leaving</a:t>
            </a:r>
            <a:r>
              <a:rPr lang="sv-SE" sz="1100" b="1" dirty="0">
                <a:latin typeface="Cabin" pitchFamily="2" charset="77"/>
                <a:cs typeface="Calibri Light"/>
              </a:rPr>
              <a:t> the stock per MS in 2005-2020 (extrapolation 2015-2020)</a:t>
            </a:r>
            <a:br>
              <a:rPr lang="sv-SE" sz="1100" b="1" dirty="0">
                <a:latin typeface="Cabin" pitchFamily="2" charset="77"/>
                <a:cs typeface="Calibri Light"/>
              </a:rPr>
            </a:br>
            <a:r>
              <a:rPr lang="sv-SE" sz="1100" dirty="0">
                <a:latin typeface="Cabin" pitchFamily="2" charset="77"/>
                <a:cs typeface="Calibri Light"/>
              </a:rPr>
              <a:t>from the Urban </a:t>
            </a:r>
            <a:r>
              <a:rPr lang="sv-SE" sz="1100" dirty="0" err="1">
                <a:latin typeface="Cabin" pitchFamily="2" charset="77"/>
                <a:cs typeface="Calibri Light"/>
              </a:rPr>
              <a:t>mine</a:t>
            </a:r>
            <a:r>
              <a:rPr lang="sv-SE" sz="1100" dirty="0">
                <a:latin typeface="Cabin" pitchFamily="2" charset="77"/>
                <a:cs typeface="Calibri Light"/>
              </a:rPr>
              <a:t> </a:t>
            </a:r>
            <a:r>
              <a:rPr lang="sv-SE" sz="1100" dirty="0" err="1">
                <a:latin typeface="Cabin" pitchFamily="2" charset="77"/>
                <a:cs typeface="Calibri Light"/>
              </a:rPr>
              <a:t>platform</a:t>
            </a:r>
            <a:r>
              <a:rPr lang="sv-SE" sz="1100" dirty="0">
                <a:latin typeface="Cabin" pitchFamily="2" charset="77"/>
                <a:cs typeface="Calibri Light"/>
              </a:rPr>
              <a:t> (</a:t>
            </a:r>
            <a:r>
              <a:rPr lang="sv-SE" sz="1100" dirty="0" err="1">
                <a:latin typeface="Cabin" pitchFamily="2" charset="77"/>
                <a:cs typeface="Calibri Light"/>
              </a:rPr>
              <a:t>ProSUM</a:t>
            </a:r>
            <a:r>
              <a:rPr lang="sv-SE" sz="1100" dirty="0">
                <a:latin typeface="Cabin" pitchFamily="2" charset="77"/>
                <a:cs typeface="Calibri Light"/>
              </a:rPr>
              <a:t>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E8043A-2351-DD3C-C4EC-F65B9BF8AEBF}"/>
              </a:ext>
            </a:extLst>
          </p:cNvPr>
          <p:cNvGrpSpPr/>
          <p:nvPr/>
        </p:nvGrpSpPr>
        <p:grpSpPr>
          <a:xfrm>
            <a:off x="4172794" y="2987029"/>
            <a:ext cx="6119903" cy="2990444"/>
            <a:chOff x="4540699" y="2627662"/>
            <a:chExt cx="6119903" cy="299044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5A2C7F0-D386-F5B1-19B7-624F5C67B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300" y="4355610"/>
              <a:ext cx="3048940" cy="61236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6B7B9F-4F44-6E79-EE4A-405C298527C6}"/>
                </a:ext>
              </a:extLst>
            </p:cNvPr>
            <p:cNvCxnSpPr>
              <a:cxnSpLocks/>
            </p:cNvCxnSpPr>
            <p:nvPr/>
          </p:nvCxnSpPr>
          <p:spPr>
            <a:xfrm>
              <a:off x="6972300" y="4955866"/>
              <a:ext cx="3060000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8C9E48D-8778-45D7-E48B-4CB87A8E1C5C}"/>
                </a:ext>
              </a:extLst>
            </p:cNvPr>
            <p:cNvSpPr/>
            <p:nvPr/>
          </p:nvSpPr>
          <p:spPr>
            <a:xfrm rot="5847237">
              <a:off x="5998699" y="1169662"/>
              <a:ext cx="2340000" cy="5256000"/>
            </a:xfrm>
            <a:prstGeom prst="arc">
              <a:avLst>
                <a:gd name="adj1" fmla="val 16018405"/>
                <a:gd name="adj2" fmla="val 0"/>
              </a:avLst>
            </a:prstGeom>
            <a:ln w="127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triangl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1EAC3A7C-9103-0D23-2AD8-334B95304B30}"/>
                </a:ext>
              </a:extLst>
            </p:cNvPr>
            <p:cNvSpPr/>
            <p:nvPr/>
          </p:nvSpPr>
          <p:spPr>
            <a:xfrm rot="10800000">
              <a:off x="6988602" y="4262938"/>
              <a:ext cx="3672000" cy="1355168"/>
            </a:xfrm>
            <a:prstGeom prst="arc">
              <a:avLst>
                <a:gd name="adj1" fmla="val 14386844"/>
                <a:gd name="adj2" fmla="val 0"/>
              </a:avLst>
            </a:prstGeom>
            <a:ln w="127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triangl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4BB1161-F121-3612-F3C0-B56FEDC939F5}"/>
                </a:ext>
              </a:extLst>
            </p:cNvPr>
            <p:cNvCxnSpPr>
              <a:cxnSpLocks/>
            </p:cNvCxnSpPr>
            <p:nvPr/>
          </p:nvCxnSpPr>
          <p:spPr>
            <a:xfrm>
              <a:off x="6961240" y="4958536"/>
              <a:ext cx="2981337" cy="451908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45BC7C8-D5B1-8576-9B24-2710DD4BFE9B}"/>
              </a:ext>
            </a:extLst>
          </p:cNvPr>
          <p:cNvSpPr txBox="1"/>
          <p:nvPr/>
        </p:nvSpPr>
        <p:spPr>
          <a:xfrm>
            <a:off x="4993783" y="6157551"/>
            <a:ext cx="2356834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600" dirty="0" err="1">
                <a:latin typeface="Cabin" pitchFamily="2" charset="77"/>
                <a:cs typeface="Calibri Light"/>
              </a:rPr>
              <a:t>Future</a:t>
            </a:r>
            <a:r>
              <a:rPr lang="sv-SE" sz="1600" dirty="0">
                <a:latin typeface="Cabin" pitchFamily="2" charset="77"/>
                <a:cs typeface="Calibri Light"/>
              </a:rPr>
              <a:t>: </a:t>
            </a:r>
            <a:r>
              <a:rPr lang="sv-SE" sz="1600" dirty="0" err="1">
                <a:latin typeface="Cabin" pitchFamily="2" charset="77"/>
                <a:cs typeface="Calibri Light"/>
              </a:rPr>
              <a:t>based</a:t>
            </a:r>
            <a:r>
              <a:rPr lang="sv-SE" sz="1600" dirty="0">
                <a:latin typeface="Cabin" pitchFamily="2" charset="77"/>
                <a:cs typeface="Calibri Light"/>
              </a:rPr>
              <a:t> on </a:t>
            </a:r>
            <a:r>
              <a:rPr lang="sv-SE" sz="1600" dirty="0" err="1">
                <a:latin typeface="Cabin" pitchFamily="2" charset="77"/>
                <a:cs typeface="Calibri Light"/>
              </a:rPr>
              <a:t>assumptions</a:t>
            </a:r>
            <a:endParaRPr lang="sv-SE" sz="1600" dirty="0">
              <a:latin typeface="Cabin" pitchFamily="2" charset="77"/>
              <a:cs typeface="Calibri Ligh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AFC7A11-887D-7C4A-ABD4-23E211152981}"/>
              </a:ext>
            </a:extLst>
          </p:cNvPr>
          <p:cNvCxnSpPr/>
          <p:nvPr/>
        </p:nvCxnSpPr>
        <p:spPr>
          <a:xfrm>
            <a:off x="6553200" y="6353312"/>
            <a:ext cx="37698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336D73-0EE9-9DC9-001D-6FC8B71B306B}"/>
              </a:ext>
            </a:extLst>
          </p:cNvPr>
          <p:cNvSpPr txBox="1"/>
          <p:nvPr/>
        </p:nvSpPr>
        <p:spPr>
          <a:xfrm>
            <a:off x="10011304" y="4714889"/>
            <a:ext cx="437837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4400" dirty="0">
                <a:latin typeface="Cabin" pitchFamily="2" charset="77"/>
                <a:cs typeface="Calibri Light"/>
              </a:rPr>
              <a:t>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2ED833-FADF-D308-2DED-61EDD38DD288}"/>
              </a:ext>
            </a:extLst>
          </p:cNvPr>
          <p:cNvSpPr txBox="1"/>
          <p:nvPr/>
        </p:nvSpPr>
        <p:spPr>
          <a:xfrm>
            <a:off x="9937851" y="6265014"/>
            <a:ext cx="511290" cy="55238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latin typeface="Cabin" pitchFamily="2" charset="77"/>
                <a:cs typeface="Calibri Light"/>
              </a:rPr>
              <a:t>2050</a:t>
            </a:r>
          </a:p>
        </p:txBody>
      </p:sp>
    </p:spTree>
    <p:extLst>
      <p:ext uri="{BB962C8B-B14F-4D97-AF65-F5344CB8AC3E}">
        <p14:creationId xmlns:p14="http://schemas.microsoft.com/office/powerpoint/2010/main" val="411083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3" grpId="0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1417" y="372610"/>
            <a:ext cx="9451767" cy="554400"/>
          </a:xfrm>
        </p:spPr>
        <p:txBody>
          <a:bodyPr>
            <a:noAutofit/>
          </a:bodyPr>
          <a:lstStyle/>
          <a:p>
            <a:r>
              <a:rPr lang="en-US" sz="2400" dirty="0">
                <a:sym typeface="Wingdings" panose="05000000000000000000" pitchFamily="2" charset="2"/>
              </a:rPr>
              <a:t>Example: observed historical changes in vehicles have resulted in changes in waste quantity and composition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EDE2-81EF-49A0-AFCA-6BFD438F9631}"/>
              </a:ext>
            </a:extLst>
          </p:cNvPr>
          <p:cNvSpPr txBox="1"/>
          <p:nvPr/>
        </p:nvSpPr>
        <p:spPr>
          <a:xfrm>
            <a:off x="9095905" y="6529485"/>
            <a:ext cx="16579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Update</a:t>
            </a:r>
            <a:r>
              <a:rPr lang="sv-SE" sz="1200" dirty="0"/>
              <a:t> for RMIS (2022)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DAD64-FC4A-452A-AEAC-E7B290F7D0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823" y="4110217"/>
            <a:ext cx="3288976" cy="1976885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F26B6-105F-4590-AD35-5DA9FD6142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50"/>
          <a:stretch/>
        </p:blipFill>
        <p:spPr>
          <a:xfrm>
            <a:off x="4086191" y="1881763"/>
            <a:ext cx="2193728" cy="17414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E8D6A3-7D49-4704-AC9D-795CA273CCBD}"/>
              </a:ext>
            </a:extLst>
          </p:cNvPr>
          <p:cNvSpPr/>
          <p:nvPr/>
        </p:nvSpPr>
        <p:spPr>
          <a:xfrm>
            <a:off x="4066848" y="1634584"/>
            <a:ext cx="695836" cy="398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60076-2774-3E2F-8EAA-7DA9CC4EA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17" y="1871373"/>
            <a:ext cx="3375486" cy="16237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E4504F-8C97-9DC4-85E6-775772BD5498}"/>
              </a:ext>
            </a:extLst>
          </p:cNvPr>
          <p:cNvSpPr txBox="1"/>
          <p:nvPr/>
        </p:nvSpPr>
        <p:spPr>
          <a:xfrm>
            <a:off x="6299324" y="1722137"/>
            <a:ext cx="518072" cy="39845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sv-SE" sz="1050" dirty="0" err="1">
                <a:solidFill>
                  <a:schemeClr val="bg1">
                    <a:lumMod val="50000"/>
                  </a:schemeClr>
                </a:solidFill>
                <a:latin typeface="Cabin" pitchFamily="2" charset="77"/>
                <a:cs typeface="Calibri Light"/>
              </a:rPr>
              <a:t>Recovery</a:t>
            </a:r>
            <a:endParaRPr lang="sv-SE" sz="1050" dirty="0">
              <a:solidFill>
                <a:schemeClr val="bg1">
                  <a:lumMod val="50000"/>
                </a:schemeClr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7190AC2-2FF1-9AA0-5A65-16D82471B114}"/>
              </a:ext>
            </a:extLst>
          </p:cNvPr>
          <p:cNvSpPr/>
          <p:nvPr/>
        </p:nvSpPr>
        <p:spPr>
          <a:xfrm rot="18383435">
            <a:off x="6121668" y="2079483"/>
            <a:ext cx="216983" cy="20108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2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3B1067-E746-1592-853F-122316CEB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9" y="1871373"/>
            <a:ext cx="3375486" cy="16041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114401-8927-ABEB-35B2-C9F8C0AA469E}"/>
              </a:ext>
            </a:extLst>
          </p:cNvPr>
          <p:cNvSpPr txBox="1"/>
          <p:nvPr/>
        </p:nvSpPr>
        <p:spPr>
          <a:xfrm>
            <a:off x="271416" y="4256312"/>
            <a:ext cx="666278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Observed historical changes affecting waste quantity and composition</a:t>
            </a:r>
            <a:r>
              <a:rPr lang="en-US" sz="20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Total number of vehicles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New keys </a:t>
            </a:r>
            <a:r>
              <a:rPr lang="en-US" sz="1600" dirty="0"/>
              <a:t>(e.g. BEV and PHEV)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Share of keys </a:t>
            </a:r>
            <a:r>
              <a:rPr lang="en-US" sz="1600" dirty="0"/>
              <a:t>(e.g. increasing/decreasing diesel)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Composition per key </a:t>
            </a:r>
            <a:r>
              <a:rPr lang="en-US" sz="1600" dirty="0"/>
              <a:t>(e.g. PGM due to stricter emission legislation)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0E7C9-5AEC-695A-3F77-AEA7ACF0EED6}"/>
              </a:ext>
            </a:extLst>
          </p:cNvPr>
          <p:cNvSpPr txBox="1"/>
          <p:nvPr/>
        </p:nvSpPr>
        <p:spPr>
          <a:xfrm>
            <a:off x="297668" y="1056758"/>
            <a:ext cx="4378460" cy="115010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400" b="1" dirty="0" err="1">
                <a:latin typeface="Cabin" pitchFamily="2" charset="77"/>
                <a:cs typeface="Calibri Light"/>
              </a:rPr>
              <a:t>Number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of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vehicles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placed</a:t>
            </a:r>
            <a:r>
              <a:rPr lang="sv-SE" sz="1400" b="1" dirty="0">
                <a:latin typeface="Cabin" pitchFamily="2" charset="77"/>
                <a:cs typeface="Calibri Light"/>
              </a:rPr>
              <a:t> on the market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34AB5-9D47-4C74-2D6E-043639BBA954}"/>
              </a:ext>
            </a:extLst>
          </p:cNvPr>
          <p:cNvSpPr txBox="1"/>
          <p:nvPr/>
        </p:nvSpPr>
        <p:spPr>
          <a:xfrm>
            <a:off x="7157925" y="1055631"/>
            <a:ext cx="4378460" cy="115010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400" b="1" dirty="0" err="1">
                <a:latin typeface="Cabin" pitchFamily="2" charset="77"/>
                <a:cs typeface="Calibri Light"/>
              </a:rPr>
              <a:t>Number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of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vehicles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reported</a:t>
            </a:r>
            <a:r>
              <a:rPr lang="sv-SE" sz="1400" b="1" dirty="0">
                <a:latin typeface="Cabin" pitchFamily="2" charset="77"/>
                <a:cs typeface="Calibri Light"/>
              </a:rPr>
              <a:t> as </a:t>
            </a:r>
            <a:r>
              <a:rPr lang="sv-SE" sz="1400" b="1" dirty="0" err="1">
                <a:latin typeface="Cabin" pitchFamily="2" charset="77"/>
                <a:cs typeface="Calibri Light"/>
              </a:rPr>
              <a:t>recycled</a:t>
            </a:r>
            <a:endParaRPr lang="sv-SE" sz="1400" b="1" dirty="0">
              <a:latin typeface="Cabin" pitchFamily="2" charset="77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07EF7-0565-631B-7186-0C75BFCD102F}"/>
              </a:ext>
            </a:extLst>
          </p:cNvPr>
          <p:cNvSpPr txBox="1"/>
          <p:nvPr/>
        </p:nvSpPr>
        <p:spPr>
          <a:xfrm>
            <a:off x="7060823" y="3326300"/>
            <a:ext cx="4193216" cy="115010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400" b="1" dirty="0" err="1">
                <a:latin typeface="Cabin" pitchFamily="2" charset="77"/>
                <a:cs typeface="Calibri Light"/>
              </a:rPr>
              <a:t>Precious</a:t>
            </a:r>
            <a:r>
              <a:rPr lang="sv-SE" sz="1400" b="1" dirty="0">
                <a:latin typeface="Cabin" pitchFamily="2" charset="77"/>
                <a:cs typeface="Calibri Light"/>
              </a:rPr>
              <a:t> elements in </a:t>
            </a:r>
            <a:r>
              <a:rPr lang="sv-SE" sz="1400" b="1" dirty="0" err="1">
                <a:latin typeface="Cabin" pitchFamily="2" charset="77"/>
                <a:cs typeface="Calibri Light"/>
              </a:rPr>
              <a:t>vehicles</a:t>
            </a:r>
            <a:r>
              <a:rPr lang="sv-SE" sz="1400" b="1" dirty="0">
                <a:latin typeface="Cabin" pitchFamily="2" charset="77"/>
                <a:cs typeface="Calibri Light"/>
              </a:rPr>
              <a:t> </a:t>
            </a:r>
            <a:r>
              <a:rPr lang="sv-SE" sz="1400" b="1" dirty="0" err="1">
                <a:latin typeface="Cabin" pitchFamily="2" charset="77"/>
                <a:cs typeface="Calibri Light"/>
              </a:rPr>
              <a:t>reported</a:t>
            </a:r>
            <a:r>
              <a:rPr lang="sv-SE" sz="1400" b="1" dirty="0">
                <a:latin typeface="Cabin" pitchFamily="2" charset="77"/>
                <a:cs typeface="Calibri Light"/>
              </a:rPr>
              <a:t> as </a:t>
            </a:r>
            <a:r>
              <a:rPr lang="sv-SE" sz="1400" b="1" dirty="0" err="1">
                <a:latin typeface="Cabin" pitchFamily="2" charset="77"/>
                <a:cs typeface="Calibri Light"/>
              </a:rPr>
              <a:t>recycled</a:t>
            </a:r>
            <a:endParaRPr lang="sv-SE" sz="1400" b="1" dirty="0">
              <a:latin typeface="Cabin" pitchFamily="2" charset="77"/>
              <a:cs typeface="Calibri Ligh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3E4298-C295-B4F5-E96E-C5CA445C281C}"/>
              </a:ext>
            </a:extLst>
          </p:cNvPr>
          <p:cNvSpPr/>
          <p:nvPr/>
        </p:nvSpPr>
        <p:spPr>
          <a:xfrm>
            <a:off x="4003670" y="2327010"/>
            <a:ext cx="695836" cy="5513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2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6A1611-54BE-5AD7-6231-CB12F58D74A1}"/>
              </a:ext>
            </a:extLst>
          </p:cNvPr>
          <p:cNvSpPr/>
          <p:nvPr/>
        </p:nvSpPr>
        <p:spPr>
          <a:xfrm>
            <a:off x="5413370" y="2120592"/>
            <a:ext cx="695836" cy="478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77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1417" y="372610"/>
            <a:ext cx="9451767" cy="554400"/>
          </a:xfrm>
        </p:spPr>
        <p:txBody>
          <a:bodyPr>
            <a:no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Technology development in future scenarios? </a:t>
            </a: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3B730C-AA92-4AE4-C6D3-A90DA409A77F}"/>
              </a:ext>
            </a:extLst>
          </p:cNvPr>
          <p:cNvSpPr txBox="1"/>
          <p:nvPr/>
        </p:nvSpPr>
        <p:spPr>
          <a:xfrm>
            <a:off x="503561" y="1595785"/>
            <a:ext cx="9859639" cy="44012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The future cannot be predicted, assumptions on technology development are needed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Concerns both future products and recovery technology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Scenario descriptions should guide assumptions, but specific assumptions are likely needed at the level of each waste stream</a:t>
            </a:r>
            <a:endParaRPr lang="sv-SE" sz="2400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What methodological approach:</a:t>
            </a:r>
            <a:br>
              <a:rPr lang="en-US" sz="2400" dirty="0"/>
            </a:br>
            <a:r>
              <a:rPr lang="en-US" sz="2400" dirty="0"/>
              <a:t>(1) are assumptions about technology development based?</a:t>
            </a:r>
            <a:br>
              <a:rPr lang="en-US" sz="2400" dirty="0"/>
            </a:br>
            <a:r>
              <a:rPr lang="en-US" sz="2400" dirty="0"/>
              <a:t>(2) is used for implementing technology development in SF models?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Each waste stream needs to </a:t>
            </a:r>
            <a:r>
              <a:rPr lang="en-US" sz="2400" u="sng" dirty="0"/>
              <a:t>choose and describe the approach</a:t>
            </a:r>
            <a:r>
              <a:rPr lang="en-US" sz="2400" dirty="0"/>
              <a:t>. Align and share between waste streams if helpful.</a:t>
            </a:r>
          </a:p>
        </p:txBody>
      </p:sp>
    </p:spTree>
    <p:extLst>
      <p:ext uri="{BB962C8B-B14F-4D97-AF65-F5344CB8AC3E}">
        <p14:creationId xmlns:p14="http://schemas.microsoft.com/office/powerpoint/2010/main" val="151090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4117" y="423410"/>
            <a:ext cx="9451767" cy="554400"/>
          </a:xfrm>
        </p:spPr>
        <p:txBody>
          <a:bodyPr>
            <a:no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What assumptions on technology development in future scenarios need to be addressed </a:t>
            </a:r>
            <a:r>
              <a:rPr lang="en-US" sz="2800" u="sng" dirty="0">
                <a:sym typeface="Wingdings" panose="05000000000000000000" pitchFamily="2" charset="2"/>
              </a:rPr>
              <a:t>in SF modelling</a:t>
            </a:r>
            <a:r>
              <a:rPr lang="en-US" sz="2800" dirty="0">
                <a:sym typeface="Wingdings" panose="05000000000000000000" pitchFamily="2" charset="2"/>
              </a:rPr>
              <a:t>? 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3B730C-AA92-4AE4-C6D3-A90DA409A77F}"/>
              </a:ext>
            </a:extLst>
          </p:cNvPr>
          <p:cNvSpPr txBox="1"/>
          <p:nvPr/>
        </p:nvSpPr>
        <p:spPr>
          <a:xfrm>
            <a:off x="284117" y="1456085"/>
            <a:ext cx="9859639" cy="51090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u="sng" dirty="0"/>
              <a:t>What technologies could be in demand over the studied period?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/>
              <a:t>Existing technologies (currently, i.e. on the market in ~ 2023)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/>
              <a:t>New technologies (not on the market in ~ 2023)</a:t>
            </a:r>
          </a:p>
          <a:p>
            <a:pPr>
              <a:spcBef>
                <a:spcPts val="2400"/>
              </a:spcBef>
            </a:pPr>
            <a:r>
              <a:rPr lang="en-US" sz="2400" u="sng" dirty="0"/>
              <a:t>What are the properties of these technologies over time?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/>
              <a:t>Products: e.g. composition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/>
              <a:t>Recovery: e.g. efficiency</a:t>
            </a:r>
          </a:p>
          <a:p>
            <a:pPr>
              <a:spcBef>
                <a:spcPts val="2400"/>
              </a:spcBef>
            </a:pPr>
            <a:r>
              <a:rPr lang="en-US" sz="2400" u="sng" dirty="0"/>
              <a:t>How are the technologies diffused to the market?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Existing and new tech grows/declines at certain rates and over certain periods</a:t>
            </a:r>
            <a:endParaRPr lang="en-US" sz="2400" u="sng" dirty="0"/>
          </a:p>
          <a:p>
            <a:pPr>
              <a:spcBef>
                <a:spcPts val="2400"/>
              </a:spcBef>
            </a:pPr>
            <a:r>
              <a:rPr lang="en-US" sz="2400" u="sng" dirty="0"/>
              <a:t>How does the above differ between scenarios?</a:t>
            </a:r>
          </a:p>
        </p:txBody>
      </p:sp>
    </p:spTree>
    <p:extLst>
      <p:ext uri="{BB962C8B-B14F-4D97-AF65-F5344CB8AC3E}">
        <p14:creationId xmlns:p14="http://schemas.microsoft.com/office/powerpoint/2010/main" val="225602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768" y="437545"/>
            <a:ext cx="10205180" cy="516878"/>
          </a:xfrm>
        </p:spPr>
        <p:txBody>
          <a:bodyPr>
            <a:no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Importance of addressing product technology development until 2050 differs between waste streams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768" y="1647533"/>
            <a:ext cx="9830176" cy="498186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u="sng" dirty="0"/>
              <a:t>Very important</a:t>
            </a:r>
            <a:r>
              <a:rPr lang="en-US" sz="1800" dirty="0"/>
              <a:t>: EEE (new keys, increasing numbers, many short-lived meaning several product generations until 2050)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u="sng" dirty="0"/>
              <a:t>Important</a:t>
            </a:r>
            <a:r>
              <a:rPr lang="en-US" sz="1800" dirty="0"/>
              <a:t>: ELV and BAT (shift between keys, composition changes, but relatively long-lived so fewer product generations until 2050)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u="sng" dirty="0"/>
              <a:t>Less important?</a:t>
            </a:r>
            <a:r>
              <a:rPr lang="en-US" sz="1800" dirty="0"/>
              <a:t>: CDW (long-lived, mainly historic changes to appear in SRM until 2050?), </a:t>
            </a:r>
            <a:br>
              <a:rPr lang="en-US" sz="1800" dirty="0"/>
            </a:br>
            <a:r>
              <a:rPr lang="en-US" sz="1800" dirty="0"/>
              <a:t>SLASH (general demand for metals/minerals not linked to product tech changes?, link to waste generated by recycling of </a:t>
            </a:r>
            <a:r>
              <a:rPr lang="en-US" sz="1800" dirty="0" err="1"/>
              <a:t>FutuRaM</a:t>
            </a:r>
            <a:r>
              <a:rPr lang="en-US" sz="1800" dirty="0"/>
              <a:t> products?)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u="sng" dirty="0"/>
              <a:t>Not considered</a:t>
            </a:r>
            <a:r>
              <a:rPr lang="en-US" sz="1800" dirty="0"/>
              <a:t>: MIN (focus on already generated waste)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2000" b="1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84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8228" y="316983"/>
            <a:ext cx="10100986" cy="554400"/>
          </a:xfrm>
        </p:spPr>
        <p:txBody>
          <a:bodyPr>
            <a:noAutofit/>
          </a:bodyPr>
          <a:lstStyle/>
          <a:p>
            <a:r>
              <a:rPr lang="en-US" sz="2400" dirty="0"/>
              <a:t>Technology diffusion: the process by which a technology increases its market share (is adopted by the market)</a:t>
            </a:r>
          </a:p>
        </p:txBody>
      </p:sp>
      <p:pic>
        <p:nvPicPr>
          <p:cNvPr id="9" name="Picture 8" descr="A picture containing text, diagram, map, font&#10;&#10;Description automatically generated">
            <a:extLst>
              <a:ext uri="{FF2B5EF4-FFF2-40B4-BE49-F238E27FC236}">
                <a16:creationId xmlns:a16="http://schemas.microsoft.com/office/drawing/2014/main" id="{3674AE20-75BC-FF4C-8C29-C1C530CC1C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9"/>
          <a:stretch/>
        </p:blipFill>
        <p:spPr>
          <a:xfrm>
            <a:off x="124482" y="1392715"/>
            <a:ext cx="5055008" cy="2370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6963D5-E46E-27B0-706A-1622468FB674}"/>
              </a:ext>
            </a:extLst>
          </p:cNvPr>
          <p:cNvSpPr txBox="1"/>
          <p:nvPr/>
        </p:nvSpPr>
        <p:spPr>
          <a:xfrm>
            <a:off x="278228" y="4280120"/>
            <a:ext cx="5019926" cy="237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Historical examples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Rate of diffusion differs, e.g. </a:t>
            </a:r>
          </a:p>
          <a:p>
            <a:pPr marL="342900" indent="-34290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Internet from 0 to 60% over 15 years</a:t>
            </a:r>
          </a:p>
          <a:p>
            <a:pPr marL="342900" indent="-34290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Auto from 0 to 90% over &gt;100 years</a:t>
            </a:r>
          </a:p>
          <a:p>
            <a:pPr marL="342900" indent="-34290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Telephone from 5 to 90% over 105 years</a:t>
            </a:r>
          </a:p>
          <a:p>
            <a:pPr marL="342900" indent="-34290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 err="1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Cellphone</a:t>
            </a: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 from 0 to 90% over 20 years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50B2F-66E1-EA05-9ADC-DE2ECBD29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159" y="1160535"/>
            <a:ext cx="4869596" cy="3119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6DF385-BC94-1FB8-6A89-9B9842558B6E}"/>
              </a:ext>
            </a:extLst>
          </p:cNvPr>
          <p:cNvSpPr txBox="1"/>
          <p:nvPr/>
        </p:nvSpPr>
        <p:spPr>
          <a:xfrm>
            <a:off x="6832842" y="1063510"/>
            <a:ext cx="43150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sv-SE" sz="1400" b="1" dirty="0">
              <a:latin typeface="Cabin" pitchFamily="2" charset="77"/>
              <a:cs typeface="Calibri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B9CD9-B8ED-EE8B-F859-5A4C7B20B05E}"/>
              </a:ext>
            </a:extLst>
          </p:cNvPr>
          <p:cNvSpPr txBox="1"/>
          <p:nvPr/>
        </p:nvSpPr>
        <p:spPr>
          <a:xfrm>
            <a:off x="5179490" y="4514287"/>
            <a:ext cx="5590110" cy="213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effectLst/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Diffusion is often depicted as an S curve, where the </a:t>
            </a:r>
            <a:r>
              <a:rPr lang="en-GB" sz="1600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diffusion rate is assumed as: </a:t>
            </a:r>
          </a:p>
          <a:p>
            <a:pPr marL="2857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Slower for </a:t>
            </a:r>
            <a:r>
              <a:rPr lang="en-GB" sz="1600" u="sng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new tech</a:t>
            </a:r>
          </a:p>
          <a:p>
            <a:pPr marL="2857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More rapid for </a:t>
            </a:r>
            <a:r>
              <a:rPr lang="en-GB" sz="1600" u="sng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existing tech not yet at full market potential </a:t>
            </a:r>
          </a:p>
          <a:p>
            <a:pPr marL="2857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Slower for existing tech approaching market saturation</a:t>
            </a:r>
          </a:p>
          <a:p>
            <a:pPr marL="2857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Could hold for both products and recovery processes</a:t>
            </a:r>
          </a:p>
        </p:txBody>
      </p:sp>
    </p:spTree>
    <p:extLst>
      <p:ext uri="{BB962C8B-B14F-4D97-AF65-F5344CB8AC3E}">
        <p14:creationId xmlns:p14="http://schemas.microsoft.com/office/powerpoint/2010/main" val="198398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AD9D23-731D-EF70-D7F3-44E9BBB7C140}"/>
              </a:ext>
            </a:extLst>
          </p:cNvPr>
          <p:cNvSpPr txBox="1"/>
          <p:nvPr/>
        </p:nvSpPr>
        <p:spPr>
          <a:xfrm>
            <a:off x="278228" y="715123"/>
            <a:ext cx="9640472" cy="3046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Assumptions on technology diffusion are needed to describe the development of the market share over time (products and recovery processes)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Diffusion depends on many factors such as price, legislation, acceptance, R&amp;D, competition, organizational and institutional support… It can be made very complicated and is a research field in itself.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Regardless of how waste streams choose to approach diffusion, assumptions will be implicit in the scenarios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is why the approach chosen </a:t>
            </a:r>
            <a:r>
              <a:rPr lang="en-US" u="sng" dirty="0"/>
              <a:t>needs to be stated</a:t>
            </a:r>
            <a:r>
              <a:rPr lang="en-US" dirty="0"/>
              <a:t> so that the basis for the scenarios are as transparent as possible </a:t>
            </a:r>
            <a:endParaRPr lang="sv-SE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AA4A41B-55D3-68E7-F68F-BA27033D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28" y="99756"/>
            <a:ext cx="8967563" cy="554400"/>
          </a:xfrm>
        </p:spPr>
        <p:txBody>
          <a:bodyPr>
            <a:noAutofit/>
          </a:bodyPr>
          <a:lstStyle/>
          <a:p>
            <a:r>
              <a:rPr lang="en-US" sz="2800" dirty="0"/>
              <a:t>Assumptions on technology diffusion in </a:t>
            </a:r>
            <a:r>
              <a:rPr lang="en-US" sz="2800" dirty="0" err="1"/>
              <a:t>FutuRaM</a:t>
            </a:r>
            <a:r>
              <a:rPr lang="en-US" sz="2800" dirty="0"/>
              <a:t> scenarios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EE004E-412C-578E-9107-3F38D79D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73" y="4533012"/>
            <a:ext cx="3546372" cy="22718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1E5F42-D685-50EB-4519-BA470EF19DB6}"/>
              </a:ext>
            </a:extLst>
          </p:cNvPr>
          <p:cNvSpPr txBox="1"/>
          <p:nvPr/>
        </p:nvSpPr>
        <p:spPr>
          <a:xfrm>
            <a:off x="384891" y="3715424"/>
            <a:ext cx="43150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>
              <a:spcBef>
                <a:spcPts val="600"/>
              </a:spcBef>
            </a:pPr>
            <a:r>
              <a:rPr lang="sv-SE" sz="1600" b="1" dirty="0" err="1">
                <a:latin typeface="Cabin" pitchFamily="2" charset="77"/>
                <a:cs typeface="Calibri Light"/>
              </a:rPr>
              <a:t>Examples</a:t>
            </a:r>
            <a:r>
              <a:rPr lang="sv-SE" sz="1600" b="1" dirty="0">
                <a:latin typeface="Cabin" pitchFamily="2" charset="77"/>
                <a:cs typeface="Calibri Light"/>
              </a:rPr>
              <a:t> </a:t>
            </a:r>
            <a:r>
              <a:rPr lang="sv-SE" sz="1600" b="1" dirty="0" err="1">
                <a:latin typeface="Cabin" pitchFamily="2" charset="77"/>
                <a:cs typeface="Calibri Light"/>
              </a:rPr>
              <a:t>of</a:t>
            </a:r>
            <a:r>
              <a:rPr lang="sv-SE" sz="1600" b="1" dirty="0">
                <a:latin typeface="Cabin" pitchFamily="2" charset="77"/>
                <a:cs typeface="Calibri Light"/>
              </a:rPr>
              <a:t> diffusion </a:t>
            </a:r>
            <a:r>
              <a:rPr lang="sv-SE" sz="1600" b="1" dirty="0" err="1">
                <a:latin typeface="Cabin" pitchFamily="2" charset="77"/>
                <a:cs typeface="Calibri Light"/>
              </a:rPr>
              <a:t>patterns</a:t>
            </a:r>
            <a:r>
              <a:rPr lang="sv-SE" sz="1600" b="1" dirty="0">
                <a:latin typeface="Cabin" pitchFamily="2" charset="77"/>
                <a:cs typeface="Calibri Light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sv-SE" sz="1600" u="sng" dirty="0" err="1">
                <a:latin typeface="Cabin" pitchFamily="2" charset="77"/>
                <a:cs typeface="Calibri Light"/>
              </a:rPr>
              <a:t>Replicating</a:t>
            </a:r>
            <a:r>
              <a:rPr lang="sv-SE" sz="1600" u="sng" dirty="0">
                <a:latin typeface="Cabin" pitchFamily="2" charset="77"/>
                <a:cs typeface="Calibri Light"/>
              </a:rPr>
              <a:t> ”real” diffusion </a:t>
            </a:r>
            <a:r>
              <a:rPr lang="sv-SE" sz="1600" u="sng" dirty="0" err="1">
                <a:latin typeface="Cabin" pitchFamily="2" charset="77"/>
                <a:cs typeface="Calibri Light"/>
              </a:rPr>
              <a:t>patterns</a:t>
            </a:r>
            <a:r>
              <a:rPr lang="sv-SE" sz="1600" u="sng" dirty="0">
                <a:latin typeface="Cabin" pitchFamily="2" charset="77"/>
                <a:cs typeface="Calibri Light"/>
              </a:rPr>
              <a:t> </a:t>
            </a:r>
            <a:r>
              <a:rPr lang="sv-SE" sz="1600" dirty="0">
                <a:latin typeface="Cabin" pitchFamily="2" charset="77"/>
                <a:cs typeface="Calibri Light"/>
              </a:rPr>
              <a:t>(</a:t>
            </a:r>
            <a:r>
              <a:rPr lang="sv-SE" sz="1600" dirty="0" err="1">
                <a:latin typeface="Cabin" pitchFamily="2" charset="77"/>
                <a:cs typeface="Calibri Light"/>
              </a:rPr>
              <a:t>closer</a:t>
            </a:r>
            <a:r>
              <a:rPr lang="sv-SE" sz="1600" dirty="0">
                <a:latin typeface="Cabin" pitchFamily="2" charset="77"/>
                <a:cs typeface="Calibri Light"/>
              </a:rPr>
              <a:t> to ”</a:t>
            </a:r>
            <a:r>
              <a:rPr lang="sv-SE" sz="1600" dirty="0" err="1">
                <a:latin typeface="Cabin" pitchFamily="2" charset="77"/>
                <a:cs typeface="Calibri Light"/>
              </a:rPr>
              <a:t>prediction</a:t>
            </a:r>
            <a:r>
              <a:rPr lang="sv-SE" sz="1600" dirty="0">
                <a:latin typeface="Cabin" pitchFamily="2" charset="77"/>
                <a:cs typeface="Calibri Light"/>
              </a:rPr>
              <a:t>”)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8D711-8274-33F4-56AB-4B4FA26D4E51}"/>
              </a:ext>
            </a:extLst>
          </p:cNvPr>
          <p:cNvSpPr txBox="1"/>
          <p:nvPr/>
        </p:nvSpPr>
        <p:spPr>
          <a:xfrm>
            <a:off x="5623110" y="3887081"/>
            <a:ext cx="3820483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600" u="sng" dirty="0" err="1">
                <a:latin typeface="Cabin" pitchFamily="2" charset="77"/>
                <a:cs typeface="Calibri Light"/>
              </a:rPr>
              <a:t>Testing</a:t>
            </a:r>
            <a:r>
              <a:rPr lang="sv-SE" sz="1600" u="sng" dirty="0">
                <a:latin typeface="Cabin" pitchFamily="2" charset="77"/>
                <a:cs typeface="Calibri Light"/>
              </a:rPr>
              <a:t> ”</a:t>
            </a:r>
            <a:r>
              <a:rPr lang="sv-SE" sz="1600" u="sng" dirty="0" err="1">
                <a:latin typeface="Cabin" pitchFamily="2" charset="77"/>
                <a:cs typeface="Calibri Light"/>
              </a:rPr>
              <a:t>what</a:t>
            </a:r>
            <a:r>
              <a:rPr lang="sv-SE" sz="1600" u="sng" dirty="0">
                <a:latin typeface="Cabin" pitchFamily="2" charset="77"/>
                <a:cs typeface="Calibri Light"/>
              </a:rPr>
              <a:t> </a:t>
            </a:r>
            <a:r>
              <a:rPr lang="sv-SE" sz="1600" u="sng" dirty="0" err="1">
                <a:latin typeface="Cabin" pitchFamily="2" charset="77"/>
                <a:cs typeface="Calibri Light"/>
              </a:rPr>
              <a:t>if</a:t>
            </a:r>
            <a:r>
              <a:rPr lang="sv-SE" sz="1600" u="sng" dirty="0">
                <a:latin typeface="Cabin" pitchFamily="2" charset="77"/>
                <a:cs typeface="Calibri Light"/>
              </a:rPr>
              <a:t>” diffusion </a:t>
            </a:r>
            <a:r>
              <a:rPr lang="sv-SE" sz="1600" u="sng" dirty="0" err="1">
                <a:latin typeface="Cabin" pitchFamily="2" charset="77"/>
                <a:cs typeface="Calibri Light"/>
              </a:rPr>
              <a:t>patterns</a:t>
            </a:r>
            <a:r>
              <a:rPr lang="sv-SE" sz="1600" u="sng" dirty="0">
                <a:latin typeface="Cabin" pitchFamily="2" charset="77"/>
                <a:cs typeface="Calibri Light"/>
              </a:rPr>
              <a:t> </a:t>
            </a:r>
            <a:r>
              <a:rPr lang="sv-SE" sz="1600" dirty="0">
                <a:latin typeface="Cabin" pitchFamily="2" charset="77"/>
                <a:cs typeface="Calibri Light"/>
              </a:rPr>
              <a:t>(</a:t>
            </a:r>
            <a:r>
              <a:rPr lang="sv-SE" sz="1600" dirty="0" err="1">
                <a:latin typeface="Cabin" pitchFamily="2" charset="77"/>
                <a:cs typeface="Calibri Light"/>
              </a:rPr>
              <a:t>closer</a:t>
            </a:r>
            <a:r>
              <a:rPr lang="sv-SE" sz="1600" dirty="0">
                <a:latin typeface="Cabin" pitchFamily="2" charset="77"/>
                <a:cs typeface="Calibri Light"/>
              </a:rPr>
              <a:t> to ”</a:t>
            </a:r>
            <a:r>
              <a:rPr lang="sv-SE" sz="1600" dirty="0" err="1">
                <a:latin typeface="Cabin" pitchFamily="2" charset="77"/>
                <a:cs typeface="Calibri Light"/>
              </a:rPr>
              <a:t>exploring</a:t>
            </a:r>
            <a:r>
              <a:rPr lang="sv-SE" sz="1600" dirty="0">
                <a:latin typeface="Cabin" pitchFamily="2" charset="77"/>
                <a:cs typeface="Calibri Light"/>
              </a:rPr>
              <a:t>”)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B5AD0-418D-B250-7A10-FA2967D60A71}"/>
              </a:ext>
            </a:extLst>
          </p:cNvPr>
          <p:cNvSpPr txBox="1"/>
          <p:nvPr/>
        </p:nvSpPr>
        <p:spPr>
          <a:xfrm>
            <a:off x="1650836" y="4865414"/>
            <a:ext cx="914400" cy="33238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700" b="1" dirty="0" err="1">
                <a:solidFill>
                  <a:srgbClr val="002060"/>
                </a:solidFill>
                <a:latin typeface="Cabin" pitchFamily="2" charset="77"/>
                <a:cs typeface="Calibri Light"/>
              </a:rPr>
              <a:t>gradual</a:t>
            </a:r>
            <a:r>
              <a:rPr lang="sv-SE" sz="700" b="1" dirty="0">
                <a:solidFill>
                  <a:srgbClr val="002060"/>
                </a:solidFill>
                <a:latin typeface="Cabin" pitchFamily="2" charset="77"/>
                <a:cs typeface="Calibri Light"/>
              </a:rPr>
              <a:t> diffusion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DA173E-4A89-ED5C-8A15-866DB40ECDC7}"/>
              </a:ext>
            </a:extLst>
          </p:cNvPr>
          <p:cNvSpPr txBox="1"/>
          <p:nvPr/>
        </p:nvSpPr>
        <p:spPr>
          <a:xfrm>
            <a:off x="4661800" y="4321248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b="1" dirty="0">
                <a:latin typeface="Cabin" pitchFamily="2" charset="77"/>
                <a:cs typeface="Calibri Light"/>
              </a:rPr>
              <a:t>Market </a:t>
            </a:r>
            <a:r>
              <a:rPr lang="sv-SE" sz="1200" b="1" dirty="0" err="1">
                <a:latin typeface="Cabin" pitchFamily="2" charset="77"/>
                <a:cs typeface="Calibri Light"/>
              </a:rPr>
              <a:t>share</a:t>
            </a:r>
            <a:endParaRPr lang="sv-SE" sz="1200" b="1" dirty="0">
              <a:latin typeface="Cabin" pitchFamily="2" charset="77"/>
              <a:cs typeface="Calibri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027C1A-CDE9-9F7B-570F-3653D8E6627D}"/>
              </a:ext>
            </a:extLst>
          </p:cNvPr>
          <p:cNvSpPr txBox="1"/>
          <p:nvPr/>
        </p:nvSpPr>
        <p:spPr>
          <a:xfrm>
            <a:off x="8321888" y="6274335"/>
            <a:ext cx="342870" cy="46281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b="1" dirty="0" err="1">
                <a:latin typeface="Cabin" pitchFamily="2" charset="77"/>
                <a:cs typeface="Calibri Light"/>
              </a:rPr>
              <a:t>Time</a:t>
            </a:r>
            <a:endParaRPr lang="sv-SE" sz="1200" b="1" dirty="0">
              <a:latin typeface="Cabin" pitchFamily="2" charset="77"/>
              <a:cs typeface="Calibri Light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F500119-E32B-0B12-812B-7D9F456248B0}"/>
              </a:ext>
            </a:extLst>
          </p:cNvPr>
          <p:cNvCxnSpPr>
            <a:cxnSpLocks/>
          </p:cNvCxnSpPr>
          <p:nvPr/>
        </p:nvCxnSpPr>
        <p:spPr>
          <a:xfrm>
            <a:off x="5623110" y="4569259"/>
            <a:ext cx="3058213" cy="1686654"/>
          </a:xfrm>
          <a:prstGeom prst="bentConnector3">
            <a:avLst>
              <a:gd name="adj1" fmla="val 18"/>
            </a:avLst>
          </a:prstGeom>
          <a:ln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0F010EE-6851-D412-FE8E-F4D20810D91B}"/>
              </a:ext>
            </a:extLst>
          </p:cNvPr>
          <p:cNvSpPr txBox="1"/>
          <p:nvPr/>
        </p:nvSpPr>
        <p:spPr>
          <a:xfrm>
            <a:off x="5458222" y="599439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100" dirty="0">
                <a:latin typeface="Cabin" pitchFamily="2" charset="77"/>
                <a:cs typeface="Calibri Light"/>
              </a:rPr>
              <a:t>2022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70D6BB-3131-3A79-215D-E7D7C61BE3D9}"/>
              </a:ext>
            </a:extLst>
          </p:cNvPr>
          <p:cNvSpPr txBox="1"/>
          <p:nvPr/>
        </p:nvSpPr>
        <p:spPr>
          <a:xfrm>
            <a:off x="6225136" y="599439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100" dirty="0">
                <a:latin typeface="Cabin" pitchFamily="2" charset="77"/>
                <a:cs typeface="Calibri Light"/>
              </a:rPr>
              <a:t>2030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E46286-25AA-D0E8-54D3-671CE6B01055}"/>
              </a:ext>
            </a:extLst>
          </p:cNvPr>
          <p:cNvSpPr txBox="1"/>
          <p:nvPr/>
        </p:nvSpPr>
        <p:spPr>
          <a:xfrm>
            <a:off x="7758965" y="599439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100" dirty="0">
                <a:latin typeface="Cabin" pitchFamily="2" charset="77"/>
                <a:cs typeface="Calibri Light"/>
              </a:rPr>
              <a:t>2050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6F0C1E-A4B0-760F-4960-4E1065CD7013}"/>
              </a:ext>
            </a:extLst>
          </p:cNvPr>
          <p:cNvSpPr txBox="1"/>
          <p:nvPr/>
        </p:nvSpPr>
        <p:spPr>
          <a:xfrm>
            <a:off x="6992050" y="599439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100" dirty="0">
                <a:latin typeface="Cabin" pitchFamily="2" charset="77"/>
                <a:cs typeface="Calibri Light"/>
              </a:rPr>
              <a:t>2040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4EC0CC-D54F-B690-AA13-84B68E9E2C86}"/>
              </a:ext>
            </a:extLst>
          </p:cNvPr>
          <p:cNvSpPr txBox="1"/>
          <p:nvPr/>
        </p:nvSpPr>
        <p:spPr>
          <a:xfrm>
            <a:off x="5590154" y="5930865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latin typeface="Cabin" pitchFamily="2" charset="77"/>
                <a:cs typeface="Calibri Light"/>
              </a:rPr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FAFBCF-274F-E38C-9233-BF32E1F28A78}"/>
              </a:ext>
            </a:extLst>
          </p:cNvPr>
          <p:cNvSpPr txBox="1"/>
          <p:nvPr/>
        </p:nvSpPr>
        <p:spPr>
          <a:xfrm>
            <a:off x="6350609" y="5930865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latin typeface="Cabin" pitchFamily="2" charset="77"/>
                <a:cs typeface="Calibri Light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7623EC-8004-DFEC-E587-84BFE7D8B8DC}"/>
              </a:ext>
            </a:extLst>
          </p:cNvPr>
          <p:cNvSpPr txBox="1"/>
          <p:nvPr/>
        </p:nvSpPr>
        <p:spPr>
          <a:xfrm>
            <a:off x="7835936" y="4703721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latin typeface="Cabin" pitchFamily="2" charset="77"/>
                <a:cs typeface="Calibri Light"/>
              </a:rPr>
              <a:t>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B7CA13-A91D-4E3C-FAC0-AE139F8C31C2}"/>
              </a:ext>
            </a:extLst>
          </p:cNvPr>
          <p:cNvSpPr txBox="1"/>
          <p:nvPr/>
        </p:nvSpPr>
        <p:spPr>
          <a:xfrm>
            <a:off x="7046019" y="5642046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latin typeface="Cabin" pitchFamily="2" charset="77"/>
                <a:cs typeface="Calibri Light"/>
              </a:rPr>
              <a:t>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8E6EE2-834E-06A8-3905-E51E4988D2ED}"/>
              </a:ext>
            </a:extLst>
          </p:cNvPr>
          <p:cNvSpPr txBox="1"/>
          <p:nvPr/>
        </p:nvSpPr>
        <p:spPr>
          <a:xfrm>
            <a:off x="5575348" y="4703721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solidFill>
                  <a:schemeClr val="accent1">
                    <a:lumMod val="50000"/>
                  </a:schemeClr>
                </a:solidFill>
                <a:latin typeface="Cabin" pitchFamily="2" charset="77"/>
                <a:cs typeface="Calibri Light"/>
              </a:rPr>
              <a:t>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14AC1A-4FFA-9940-75D4-6A8684EC439F}"/>
              </a:ext>
            </a:extLst>
          </p:cNvPr>
          <p:cNvSpPr txBox="1"/>
          <p:nvPr/>
        </p:nvSpPr>
        <p:spPr>
          <a:xfrm>
            <a:off x="6302108" y="4703721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solidFill>
                  <a:schemeClr val="accent1">
                    <a:lumMod val="50000"/>
                  </a:schemeClr>
                </a:solidFill>
                <a:latin typeface="Cabin" pitchFamily="2" charset="77"/>
                <a:cs typeface="Calibri Light"/>
              </a:rPr>
              <a:t>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B280FD-0434-02A3-6A38-9E46D6D5BB13}"/>
              </a:ext>
            </a:extLst>
          </p:cNvPr>
          <p:cNvSpPr txBox="1"/>
          <p:nvPr/>
        </p:nvSpPr>
        <p:spPr>
          <a:xfrm>
            <a:off x="7046019" y="5056265"/>
            <a:ext cx="141027" cy="17225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solidFill>
                  <a:schemeClr val="accent1">
                    <a:lumMod val="50000"/>
                  </a:schemeClr>
                </a:solidFill>
                <a:latin typeface="Cabin" pitchFamily="2" charset="77"/>
                <a:cs typeface="Calibri Light"/>
              </a:rPr>
              <a:t>O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4D8170-7A9A-098F-3F40-9468EC6234D4}"/>
              </a:ext>
            </a:extLst>
          </p:cNvPr>
          <p:cNvSpPr txBox="1"/>
          <p:nvPr/>
        </p:nvSpPr>
        <p:spPr>
          <a:xfrm>
            <a:off x="7830433" y="5933427"/>
            <a:ext cx="98842" cy="16969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dirty="0">
                <a:solidFill>
                  <a:schemeClr val="accent1">
                    <a:lumMod val="50000"/>
                  </a:schemeClr>
                </a:solidFill>
                <a:latin typeface="Cabin" pitchFamily="2" charset="77"/>
                <a:cs typeface="Calibri Light"/>
              </a:rPr>
              <a:t>O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72D8F27-2B8B-C726-A182-FB37129CED1C}"/>
              </a:ext>
            </a:extLst>
          </p:cNvPr>
          <p:cNvCxnSpPr>
            <a:stCxn id="50" idx="1"/>
            <a:endCxn id="51" idx="1"/>
          </p:cNvCxnSpPr>
          <p:nvPr/>
        </p:nvCxnSpPr>
        <p:spPr>
          <a:xfrm>
            <a:off x="5575348" y="4789847"/>
            <a:ext cx="726760" cy="0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0BD97EE-13CB-6EB3-8E81-10D3E1654EC4}"/>
              </a:ext>
            </a:extLst>
          </p:cNvPr>
          <p:cNvCxnSpPr/>
          <p:nvPr/>
        </p:nvCxnSpPr>
        <p:spPr>
          <a:xfrm>
            <a:off x="5623110" y="6016991"/>
            <a:ext cx="726760" cy="0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B0E4E6F-B6B6-CA49-999A-96F477904DAD}"/>
              </a:ext>
            </a:extLst>
          </p:cNvPr>
          <p:cNvCxnSpPr>
            <a:cxnSpLocks/>
          </p:cNvCxnSpPr>
          <p:nvPr/>
        </p:nvCxnSpPr>
        <p:spPr>
          <a:xfrm>
            <a:off x="6333623" y="4780479"/>
            <a:ext cx="774522" cy="372177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74298F2-AC6B-91E9-455A-C276216CA67E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7085870" y="5152656"/>
            <a:ext cx="744563" cy="865616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9A795DC-9F99-CF26-ADFB-E8FE5449616C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381385" y="5728172"/>
            <a:ext cx="664634" cy="288819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4CA31C0-C712-FB6F-37E0-20DFFC46778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7066379" y="4789847"/>
            <a:ext cx="769557" cy="954719"/>
          </a:xfrm>
          <a:prstGeom prst="line">
            <a:avLst/>
          </a:prstGeom>
          <a:ln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387ED87-51FB-500D-8C25-8FBF5EB1DD2E}"/>
              </a:ext>
            </a:extLst>
          </p:cNvPr>
          <p:cNvSpPr txBox="1"/>
          <p:nvPr/>
        </p:nvSpPr>
        <p:spPr>
          <a:xfrm>
            <a:off x="5692237" y="4434399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900" dirty="0">
                <a:latin typeface="Cabin" pitchFamily="2" charset="77"/>
                <a:cs typeface="Calibri Light"/>
              </a:rPr>
              <a:t>Tech 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23BF6A-C3BD-4F78-DBAB-5E1F08269D2D}"/>
              </a:ext>
            </a:extLst>
          </p:cNvPr>
          <p:cNvSpPr txBox="1"/>
          <p:nvPr/>
        </p:nvSpPr>
        <p:spPr>
          <a:xfrm>
            <a:off x="5702930" y="5451069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900" dirty="0">
                <a:latin typeface="Cabin" pitchFamily="2" charset="77"/>
                <a:cs typeface="Calibri Light"/>
              </a:rPr>
              <a:t>Tech 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2D8D0-EDB4-6720-1F64-E50E77722316}"/>
              </a:ext>
            </a:extLst>
          </p:cNvPr>
          <p:cNvSpPr txBox="1"/>
          <p:nvPr/>
        </p:nvSpPr>
        <p:spPr>
          <a:xfrm>
            <a:off x="7796296" y="5180760"/>
            <a:ext cx="3031337" cy="54061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sv-SE" sz="1200" i="1" dirty="0" err="1">
                <a:latin typeface="Cabin" pitchFamily="2" charset="77"/>
                <a:cs typeface="Calibri Light"/>
              </a:rPr>
              <a:t>This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  <a:r>
              <a:rPr lang="sv-SE" sz="1200" i="1" dirty="0" err="1">
                <a:latin typeface="Cabin" pitchFamily="2" charset="77"/>
                <a:cs typeface="Calibri Light"/>
              </a:rPr>
              <a:t>example</a:t>
            </a:r>
            <a:r>
              <a:rPr lang="sv-SE" sz="1200" i="1" dirty="0">
                <a:latin typeface="Cabin" pitchFamily="2" charset="77"/>
                <a:cs typeface="Calibri Light"/>
              </a:rPr>
              <a:t> is a </a:t>
            </a:r>
            <a:r>
              <a:rPr lang="sv-SE" sz="1200" i="1" dirty="0" err="1">
                <a:latin typeface="Cabin" pitchFamily="2" charset="77"/>
                <a:cs typeface="Calibri Light"/>
              </a:rPr>
              <a:t>case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  <a:r>
              <a:rPr lang="sv-SE" sz="1200" i="1" dirty="0" err="1">
                <a:latin typeface="Cabin" pitchFamily="2" charset="77"/>
                <a:cs typeface="Calibri Light"/>
              </a:rPr>
              <a:t>of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  <a:r>
              <a:rPr lang="sv-SE" sz="1200" i="1" dirty="0" err="1">
                <a:latin typeface="Cabin" pitchFamily="2" charset="77"/>
                <a:cs typeface="Calibri Light"/>
              </a:rPr>
              <a:t>two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  <a:r>
              <a:rPr lang="sv-SE" sz="1200" i="1" dirty="0" err="1">
                <a:latin typeface="Cabin" pitchFamily="2" charset="77"/>
                <a:cs typeface="Calibri Light"/>
              </a:rPr>
              <a:t>existing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  <a:r>
              <a:rPr lang="sv-SE" sz="1200" i="1" dirty="0" err="1">
                <a:latin typeface="Cabin" pitchFamily="2" charset="77"/>
                <a:cs typeface="Calibri Light"/>
              </a:rPr>
              <a:t>tech</a:t>
            </a:r>
            <a:r>
              <a:rPr lang="sv-SE" sz="1200" i="1" dirty="0">
                <a:latin typeface="Cabin" pitchFamily="2" charset="77"/>
                <a:cs typeface="Calibri Light"/>
              </a:rPr>
              <a:t> </a:t>
            </a:r>
          </a:p>
          <a:p>
            <a:r>
              <a:rPr lang="sv-SE" sz="1200" i="1" dirty="0">
                <a:latin typeface="Cabin" pitchFamily="2" charset="77"/>
                <a:cs typeface="Calibri Light"/>
              </a:rPr>
              <a:t>(</a:t>
            </a:r>
            <a:r>
              <a:rPr lang="sv-SE" sz="1200" i="1" dirty="0" err="1">
                <a:latin typeface="Cabin" pitchFamily="2" charset="77"/>
                <a:cs typeface="Calibri Light"/>
              </a:rPr>
              <a:t>possibly</a:t>
            </a:r>
            <a:r>
              <a:rPr lang="sv-SE" sz="1200" i="1" dirty="0">
                <a:latin typeface="Cabin" pitchFamily="2" charset="77"/>
                <a:cs typeface="Calibri Light"/>
              </a:rPr>
              <a:t> A is </a:t>
            </a:r>
            <a:r>
              <a:rPr lang="sv-SE" sz="1200" i="1" dirty="0" err="1">
                <a:latin typeface="Cabin" pitchFamily="2" charset="77"/>
                <a:cs typeface="Calibri Light"/>
              </a:rPr>
              <a:t>replaced</a:t>
            </a:r>
            <a:r>
              <a:rPr lang="sv-SE" sz="1200" i="1" dirty="0">
                <a:latin typeface="Cabin" pitchFamily="2" charset="77"/>
                <a:cs typeface="Calibri Light"/>
              </a:rPr>
              <a:t> by B)</a:t>
            </a:r>
          </a:p>
        </p:txBody>
      </p:sp>
    </p:spTree>
    <p:extLst>
      <p:ext uri="{BB962C8B-B14F-4D97-AF65-F5344CB8AC3E}">
        <p14:creationId xmlns:p14="http://schemas.microsoft.com/office/powerpoint/2010/main" val="109650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3" grpId="0"/>
      <p:bldP spid="24" grpId="0"/>
      <p:bldP spid="27" grpId="0"/>
      <p:bldP spid="30" grpId="0"/>
      <p:bldP spid="31" grpId="0"/>
      <p:bldP spid="32" grpId="0"/>
      <p:bldP spid="33" grpId="0"/>
      <p:bldP spid="46" grpId="0"/>
      <p:bldP spid="47" grpId="0"/>
      <p:bldP spid="48" grpId="0"/>
      <p:bldP spid="49" grpId="0"/>
      <p:bldP spid="50" grpId="0"/>
      <p:bldP spid="51" grpId="0"/>
      <p:bldP spid="55" grpId="0"/>
      <p:bldP spid="57" grpId="0"/>
      <p:bldP spid="69" grpId="0"/>
      <p:bldP spid="70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7164" y="471422"/>
            <a:ext cx="9345336" cy="554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Assumptions on how product technology development can differ between scenarios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21E44B-46DE-5D21-EAE9-C596397E9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63952"/>
              </p:ext>
            </p:extLst>
          </p:nvPr>
        </p:nvGraphicFramePr>
        <p:xfrm>
          <a:off x="497164" y="1559512"/>
          <a:ext cx="8827140" cy="496501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3304">
                  <a:extLst>
                    <a:ext uri="{9D8B030D-6E8A-4147-A177-3AD203B41FA5}">
                      <a16:colId xmlns:a16="http://schemas.microsoft.com/office/drawing/2014/main" val="129632517"/>
                    </a:ext>
                  </a:extLst>
                </a:gridCol>
                <a:gridCol w="7353836">
                  <a:extLst>
                    <a:ext uri="{9D8B030D-6E8A-4147-A177-3AD203B41FA5}">
                      <a16:colId xmlns:a16="http://schemas.microsoft.com/office/drawing/2014/main" val="3505797409"/>
                    </a:ext>
                  </a:extLst>
                </a:gridCol>
              </a:tblGrid>
              <a:tr h="348577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Development of product technology 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(</a:t>
                      </a:r>
                      <a:r>
                        <a:rPr lang="sv-SE" sz="1600" b="1" dirty="0" err="1">
                          <a:effectLst/>
                          <a:latin typeface="Cabin"/>
                        </a:rPr>
                        <a:t>placed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 on market 2022-2050)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50406"/>
                  </a:ext>
                </a:extLst>
              </a:tr>
              <a:tr h="334851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BAU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dirty="0">
                          <a:effectLst/>
                          <a:latin typeface="Cabin"/>
                        </a:rPr>
                        <a:t>Keys, </a:t>
                      </a:r>
                      <a:r>
                        <a:rPr lang="en-GB" sz="1600" u="none" dirty="0">
                          <a:effectLst/>
                          <a:latin typeface="Cabin"/>
                        </a:rPr>
                        <a:t>Market share/key (diffusion), </a:t>
                      </a:r>
                      <a:r>
                        <a:rPr lang="en-GB" sz="1600" dirty="0">
                          <a:effectLst/>
                          <a:latin typeface="Cabin"/>
                        </a:rPr>
                        <a:t>Composition/key, Total number of products</a:t>
                      </a:r>
                      <a:endParaRPr lang="sv-SE" sz="1600" u="none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4590690"/>
                  </a:ext>
                </a:extLst>
              </a:tr>
              <a:tr h="367894">
                <a:tc gridSpan="2"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i="1" dirty="0">
                          <a:effectLst/>
                          <a:latin typeface="Cabin"/>
                        </a:rPr>
                        <a:t>Difference to BAU</a:t>
                      </a:r>
                      <a:r>
                        <a:rPr lang="en-GB" sz="1600" dirty="0">
                          <a:effectLst/>
                          <a:latin typeface="Cabin"/>
                        </a:rPr>
                        <a:t>: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	 </a:t>
                      </a: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139316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Circularity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dirty="0">
                          <a:effectLst/>
                          <a:latin typeface="Cabin"/>
                        </a:rPr>
                        <a:t>Keys: no difference</a:t>
                      </a:r>
                      <a:r>
                        <a:rPr lang="en-US" sz="1600" dirty="0">
                          <a:effectLst/>
                          <a:latin typeface="Cabin"/>
                        </a:rPr>
                        <a:t> </a:t>
                      </a:r>
                    </a:p>
                    <a:p>
                      <a:pPr marL="7200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Market share/key: other diffusion as a consequence of circularity</a:t>
                      </a:r>
                    </a:p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Composition/key: differs as a consequence of increased reusability, reparability and longer life etc (e.g. more and/or other material).</a:t>
                      </a:r>
                      <a:r>
                        <a:rPr lang="en-US" sz="1600" u="none" dirty="0">
                          <a:effectLst/>
                          <a:latin typeface="Cabin"/>
                        </a:rPr>
                        <a:t> </a:t>
                      </a:r>
                    </a:p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Total number of products: fewer as consequence of longevity, sharing, reuse etc.</a:t>
                      </a:r>
                      <a:r>
                        <a:rPr lang="en-US" sz="1600" u="none" dirty="0">
                          <a:effectLst/>
                          <a:latin typeface="Cabin"/>
                        </a:rPr>
                        <a:t> (slower flow through stock)</a:t>
                      </a:r>
                      <a:endParaRPr lang="sv-SE" sz="1600" u="none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34062774"/>
                  </a:ext>
                </a:extLst>
              </a:tr>
              <a:tr h="242810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Recoverability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dirty="0">
                          <a:effectLst/>
                          <a:latin typeface="Cabin"/>
                        </a:rPr>
                        <a:t>Keys: no difference</a:t>
                      </a:r>
                      <a:r>
                        <a:rPr lang="en-US" sz="1600" dirty="0">
                          <a:effectLst/>
                          <a:latin typeface="Cabin"/>
                        </a:rPr>
                        <a:t> </a:t>
                      </a:r>
                      <a:endParaRPr lang="sv-SE" sz="1600" dirty="0">
                        <a:effectLst/>
                        <a:latin typeface="Cabin"/>
                      </a:endParaRPr>
                    </a:p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Market share/key: other diffusion as a consequence of recoverability</a:t>
                      </a:r>
                      <a:endParaRPr lang="sv-SE" sz="1600" dirty="0">
                        <a:effectLst/>
                        <a:latin typeface="Cabin"/>
                      </a:endParaRPr>
                    </a:p>
                    <a:p>
                      <a:pPr marL="72000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Composition/key: differs as a consequence of increased recoverability</a:t>
                      </a:r>
                      <a:r>
                        <a:rPr lang="en-US" sz="1600" u="none" dirty="0">
                          <a:effectLst/>
                          <a:latin typeface="Cabin"/>
                        </a:rPr>
                        <a:t> (e.g. fewer materials, increased dismantlability) </a:t>
                      </a:r>
                    </a:p>
                    <a:p>
                      <a:pPr marL="72000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  <a:latin typeface="Cabin"/>
                        </a:rPr>
                        <a:t>Total number</a:t>
                      </a:r>
                      <a:r>
                        <a:rPr lang="en-GB" sz="1600" u="none" dirty="0">
                          <a:effectLst/>
                          <a:latin typeface="Cabin"/>
                        </a:rPr>
                        <a:t> of products</a:t>
                      </a:r>
                      <a:r>
                        <a:rPr lang="en-GB" sz="1600" dirty="0">
                          <a:effectLst/>
                          <a:latin typeface="Cabin"/>
                        </a:rPr>
                        <a:t>: no difference (same flow through stock)</a:t>
                      </a:r>
                      <a:r>
                        <a:rPr lang="en-US" sz="1600" dirty="0">
                          <a:effectLst/>
                          <a:latin typeface="Cabin"/>
                        </a:rPr>
                        <a:t> </a:t>
                      </a: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4539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45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7164" y="471422"/>
            <a:ext cx="9345336" cy="554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Assumptions on how recovery technology development can differ between scenarios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21E44B-46DE-5D21-EAE9-C596397E9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288726"/>
              </p:ext>
            </p:extLst>
          </p:nvPr>
        </p:nvGraphicFramePr>
        <p:xfrm>
          <a:off x="497164" y="1902412"/>
          <a:ext cx="9891436" cy="40735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50942">
                  <a:extLst>
                    <a:ext uri="{9D8B030D-6E8A-4147-A177-3AD203B41FA5}">
                      <a16:colId xmlns:a16="http://schemas.microsoft.com/office/drawing/2014/main" val="129632517"/>
                    </a:ext>
                  </a:extLst>
                </a:gridCol>
                <a:gridCol w="8240494">
                  <a:extLst>
                    <a:ext uri="{9D8B030D-6E8A-4147-A177-3AD203B41FA5}">
                      <a16:colId xmlns:a16="http://schemas.microsoft.com/office/drawing/2014/main" val="3505797409"/>
                    </a:ext>
                  </a:extLst>
                </a:gridCol>
              </a:tblGrid>
              <a:tr h="348577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Development of recovery technology 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(</a:t>
                      </a:r>
                      <a:r>
                        <a:rPr lang="sv-SE" sz="1600" b="1" dirty="0" err="1">
                          <a:effectLst/>
                          <a:latin typeface="Cabin"/>
                        </a:rPr>
                        <a:t>placed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 on market 2022-2050)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50406"/>
                  </a:ext>
                </a:extLst>
              </a:tr>
              <a:tr h="334851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BAU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dirty="0">
                          <a:effectLst/>
                          <a:latin typeface="Cabin"/>
                        </a:rPr>
                        <a:t>Processes, Process efficiency (TC), </a:t>
                      </a:r>
                      <a:r>
                        <a:rPr lang="en-GB" sz="1600" u="none" dirty="0">
                          <a:effectLst/>
                          <a:latin typeface="Cabin"/>
                        </a:rPr>
                        <a:t>Market share/process (diffusion), </a:t>
                      </a:r>
                      <a:r>
                        <a:rPr lang="en-GB" sz="1600" dirty="0">
                          <a:effectLst/>
                          <a:latin typeface="Cabin"/>
                        </a:rPr>
                        <a:t>Total capacity per process, Pathways (sequence of processes)</a:t>
                      </a:r>
                      <a:endParaRPr lang="sv-SE" sz="1600" u="none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4590690"/>
                  </a:ext>
                </a:extLst>
              </a:tr>
              <a:tr h="367894">
                <a:tc gridSpan="2"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i="1" dirty="0">
                          <a:effectLst/>
                          <a:latin typeface="Cabin"/>
                        </a:rPr>
                        <a:t>Difference to BAU</a:t>
                      </a:r>
                      <a:r>
                        <a:rPr lang="en-GB" sz="1600" dirty="0">
                          <a:effectLst/>
                          <a:latin typeface="Cabin"/>
                        </a:rPr>
                        <a:t>: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	 </a:t>
                      </a: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139316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Circularity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u="none" dirty="0">
                          <a:effectLst/>
                          <a:latin typeface="Cabin"/>
                        </a:rPr>
                        <a:t>Since more focus on maintaining products in use =&gt;</a:t>
                      </a:r>
                      <a:br>
                        <a:rPr lang="en-GB" sz="1600" u="none" dirty="0">
                          <a:effectLst/>
                          <a:latin typeface="Cabin"/>
                        </a:rPr>
                      </a:br>
                      <a:r>
                        <a:rPr lang="sv-SE" sz="1600" dirty="0" err="1">
                          <a:effectLst/>
                          <a:latin typeface="Cabin"/>
                        </a:rPr>
                        <a:t>Processes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and process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efficiency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: no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difference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since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legislative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targets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are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not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met</a:t>
                      </a:r>
                      <a:br>
                        <a:rPr lang="sv-SE" sz="1600" dirty="0">
                          <a:effectLst/>
                          <a:latin typeface="Cabin"/>
                        </a:rPr>
                      </a:br>
                      <a:r>
                        <a:rPr lang="en-GB" sz="1600" u="none" dirty="0">
                          <a:effectLst/>
                          <a:latin typeface="Cabin"/>
                        </a:rPr>
                        <a:t>Market share/process: slower diffusion</a:t>
                      </a:r>
                      <a:br>
                        <a:rPr lang="en-GB" sz="1600" u="none" dirty="0">
                          <a:effectLst/>
                          <a:latin typeface="Cabin"/>
                        </a:rPr>
                      </a:br>
                      <a:r>
                        <a:rPr lang="en-GB" sz="1600" u="none" dirty="0">
                          <a:effectLst/>
                          <a:latin typeface="Cabin"/>
                        </a:rPr>
                        <a:t>Total capacity per process: lower since less waste is generated per unit of time</a:t>
                      </a:r>
                      <a:br>
                        <a:rPr lang="en-GB" sz="1600" u="none" dirty="0">
                          <a:effectLst/>
                          <a:latin typeface="Cabin"/>
                        </a:rPr>
                      </a:br>
                      <a:r>
                        <a:rPr lang="en-GB" sz="1600" u="none" dirty="0">
                          <a:effectLst/>
                          <a:latin typeface="Cabin"/>
                        </a:rPr>
                        <a:t>Pathways: no difference</a:t>
                      </a:r>
                      <a:endParaRPr lang="sv-SE" sz="1600" u="none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34062774"/>
                  </a:ext>
                </a:extLst>
              </a:tr>
              <a:tr h="242810">
                <a:tc>
                  <a:txBody>
                    <a:bodyPr/>
                    <a:lstStyle/>
                    <a:p>
                      <a:pPr marL="72000" algn="just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Cabin"/>
                        </a:rPr>
                        <a:t>Recoverability</a:t>
                      </a:r>
                      <a:r>
                        <a:rPr lang="sv-SE" sz="1600" b="1" dirty="0">
                          <a:effectLst/>
                          <a:latin typeface="Cabin"/>
                        </a:rPr>
                        <a:t> </a:t>
                      </a:r>
                      <a:endParaRPr lang="sv-SE" sz="1600" b="1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000" fontAlgn="base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sv-SE" sz="1600" dirty="0" err="1">
                          <a:effectLst/>
                          <a:latin typeface="Cabin"/>
                        </a:rPr>
                        <a:t>Since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more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focus on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recovering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materials in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products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=&gt;</a:t>
                      </a:r>
                      <a:br>
                        <a:rPr lang="sv-SE" sz="1600" dirty="0">
                          <a:effectLst/>
                          <a:latin typeface="Cabin"/>
                        </a:rPr>
                      </a:br>
                      <a:r>
                        <a:rPr lang="sv-SE" sz="1600" dirty="0" err="1">
                          <a:effectLst/>
                          <a:latin typeface="Cabin"/>
                        </a:rPr>
                        <a:t>Processes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: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more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developed</a:t>
                      </a:r>
                      <a:br>
                        <a:rPr lang="sv-SE" sz="1600" dirty="0">
                          <a:effectLst/>
                          <a:latin typeface="Cabin"/>
                        </a:rPr>
                      </a:br>
                      <a:r>
                        <a:rPr lang="sv-SE" sz="1600" dirty="0">
                          <a:effectLst/>
                          <a:latin typeface="Cabin"/>
                        </a:rPr>
                        <a:t>Process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efficiency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: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higher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for CRM to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meet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legislative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targets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(CRM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act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benchmarks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 and </a:t>
                      </a:r>
                      <a:r>
                        <a:rPr lang="sv-SE" sz="1600" dirty="0" err="1">
                          <a:effectLst/>
                          <a:latin typeface="Cabin"/>
                        </a:rPr>
                        <a:t>other</a:t>
                      </a:r>
                      <a:r>
                        <a:rPr lang="sv-SE" sz="1600" dirty="0">
                          <a:effectLst/>
                          <a:latin typeface="Cabin"/>
                        </a:rPr>
                        <a:t>)</a:t>
                      </a:r>
                      <a:br>
                        <a:rPr lang="sv-SE" sz="1600" dirty="0">
                          <a:effectLst/>
                          <a:latin typeface="Cabin"/>
                        </a:rPr>
                      </a:br>
                      <a:r>
                        <a:rPr lang="en-GB" sz="1600" u="none" dirty="0">
                          <a:effectLst/>
                          <a:latin typeface="Cabin"/>
                        </a:rPr>
                        <a:t>Market share/process: more rapid diffusion </a:t>
                      </a:r>
                      <a:br>
                        <a:rPr lang="en-GB" sz="1600" u="none" dirty="0">
                          <a:effectLst/>
                          <a:latin typeface="Cabin"/>
                        </a:rPr>
                      </a:br>
                      <a:r>
                        <a:rPr lang="en-GB" sz="1600" u="none" dirty="0">
                          <a:effectLst/>
                          <a:latin typeface="Cabin"/>
                        </a:rPr>
                        <a:t>Total capacity per process: same as BAU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since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same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amount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of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waste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is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generated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per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unit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of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time</a:t>
                      </a:r>
                      <a:br>
                        <a:rPr lang="sv-SE" sz="1600" u="none" dirty="0">
                          <a:effectLst/>
                          <a:latin typeface="Cabin"/>
                        </a:rPr>
                      </a:br>
                      <a:r>
                        <a:rPr lang="sv-SE" sz="1600" u="none" dirty="0" err="1">
                          <a:effectLst/>
                          <a:latin typeface="Cabin"/>
                        </a:rPr>
                        <a:t>Pahtways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: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more</a:t>
                      </a:r>
                      <a:r>
                        <a:rPr lang="sv-SE" sz="1600" u="none" dirty="0">
                          <a:effectLst/>
                          <a:latin typeface="Cabin"/>
                        </a:rPr>
                        <a:t> </a:t>
                      </a:r>
                      <a:r>
                        <a:rPr lang="sv-SE" sz="1600" u="none" dirty="0" err="1">
                          <a:effectLst/>
                          <a:latin typeface="Cabin"/>
                        </a:rPr>
                        <a:t>developed</a:t>
                      </a:r>
                      <a:endParaRPr lang="sv-SE" sz="1600" dirty="0">
                        <a:effectLst/>
                        <a:latin typeface="Cabin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4539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130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7164" y="471422"/>
            <a:ext cx="10100986" cy="554400"/>
          </a:xfrm>
        </p:spPr>
        <p:txBody>
          <a:bodyPr>
            <a:normAutofit/>
          </a:bodyPr>
          <a:lstStyle/>
          <a:p>
            <a:r>
              <a:rPr lang="en-US" dirty="0"/>
              <a:t>Suggestions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7AC10-BA83-295B-F078-25639EDF008C}"/>
              </a:ext>
            </a:extLst>
          </p:cNvPr>
          <p:cNvSpPr txBox="1"/>
          <p:nvPr/>
        </p:nvSpPr>
        <p:spPr>
          <a:xfrm>
            <a:off x="497164" y="1526769"/>
            <a:ext cx="949040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AutoNum type="arabicParenR"/>
            </a:pPr>
            <a:r>
              <a:rPr lang="en-GB" dirty="0">
                <a:effectLst/>
                <a:latin typeface="Cabin"/>
                <a:ea typeface="Times New Roman" panose="02020603050405020304" pitchFamily="18" charset="0"/>
              </a:rPr>
              <a:t>focus on products that would change the composition compared to current products (increasing or decreasing) and would leave the stock before 2050 </a:t>
            </a:r>
          </a:p>
          <a:p>
            <a:pPr marL="342900" indent="-342900">
              <a:spcBef>
                <a:spcPts val="1200"/>
              </a:spcBef>
              <a:buFontTx/>
              <a:buAutoNum type="arabicParenR"/>
            </a:pPr>
            <a:r>
              <a:rPr lang="en-GB" dirty="0">
                <a:latin typeface="Cabin"/>
                <a:ea typeface="Times New Roman" panose="02020603050405020304" pitchFamily="18" charset="0"/>
              </a:rPr>
              <a:t>decide on an approach for technology diffusion, make sure that it can be implemented in the SF model </a:t>
            </a:r>
          </a:p>
          <a:p>
            <a:pPr marL="342900" indent="-342900">
              <a:spcBef>
                <a:spcPts val="1200"/>
              </a:spcBef>
              <a:buAutoNum type="arabicParenR"/>
            </a:pPr>
            <a:r>
              <a:rPr lang="en-GB" dirty="0">
                <a:latin typeface="Cabin"/>
                <a:ea typeface="Times New Roman" panose="02020603050405020304" pitchFamily="18" charset="0"/>
              </a:rPr>
              <a:t>account for the differences in product and recovery technology between the scenarios</a:t>
            </a:r>
          </a:p>
          <a:p>
            <a:pPr marL="342900" indent="-342900">
              <a:spcBef>
                <a:spcPts val="1200"/>
              </a:spcBef>
              <a:buFontTx/>
              <a:buAutoNum type="arabicParenR"/>
            </a:pPr>
            <a:r>
              <a:rPr lang="en-GB" dirty="0">
                <a:latin typeface="Cabin"/>
                <a:ea typeface="Times New Roman" panose="02020603050405020304" pitchFamily="18" charset="0"/>
              </a:rPr>
              <a:t>collect data from various sources (e.g. patents, scientific publications, business reports, experts)</a:t>
            </a:r>
          </a:p>
          <a:p>
            <a:pPr marL="342900" indent="-342900">
              <a:spcBef>
                <a:spcPts val="1200"/>
              </a:spcBef>
              <a:buFontTx/>
              <a:buAutoNum type="arabicParenR"/>
            </a:pPr>
            <a:r>
              <a:rPr lang="en-GB" dirty="0">
                <a:latin typeface="Cabin"/>
                <a:ea typeface="Times New Roman" panose="02020603050405020304" pitchFamily="18" charset="0"/>
                <a:cs typeface="Times New Roman" panose="02020603050405020304" pitchFamily="18" charset="0"/>
              </a:rPr>
              <a:t>assume that there technology development is equal in all </a:t>
            </a:r>
            <a:r>
              <a:rPr lang="en-GB" dirty="0">
                <a:effectLst/>
                <a:latin typeface="Cabin"/>
                <a:ea typeface="Times New Roman" panose="02020603050405020304" pitchFamily="18" charset="0"/>
              </a:rPr>
              <a:t>MS</a:t>
            </a:r>
            <a:endParaRPr lang="en-GB" dirty="0">
              <a:latin typeface="Cabin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AutoNum type="arabicParenR"/>
            </a:pPr>
            <a:r>
              <a:rPr lang="en-GB" dirty="0">
                <a:effectLst/>
                <a:latin typeface="Cabin"/>
                <a:ea typeface="Times New Roman" panose="02020603050405020304" pitchFamily="18" charset="0"/>
              </a:rPr>
              <a:t>each waste stream decides on and states the approach and conducts the work (considering available project resources in terms of time and competence) </a:t>
            </a:r>
            <a:endParaRPr lang="sv-SE" dirty="0">
              <a:latin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8092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7164" y="471422"/>
            <a:ext cx="10100986" cy="554400"/>
          </a:xfrm>
        </p:spPr>
        <p:txBody>
          <a:bodyPr>
            <a:normAutofit/>
          </a:bodyPr>
          <a:lstStyle/>
          <a:p>
            <a:r>
              <a:rPr lang="en-US" dirty="0"/>
              <a:t>Timeline and responsibilities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7AC10-BA83-295B-F078-25639EDF008C}"/>
              </a:ext>
            </a:extLst>
          </p:cNvPr>
          <p:cNvSpPr txBox="1"/>
          <p:nvPr/>
        </p:nvSpPr>
        <p:spPr>
          <a:xfrm>
            <a:off x="497164" y="1526769"/>
            <a:ext cx="949040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sv-SE" dirty="0" err="1">
                <a:latin typeface="Cabin"/>
              </a:rPr>
              <a:t>Needs</a:t>
            </a:r>
            <a:r>
              <a:rPr lang="sv-SE" dirty="0">
                <a:latin typeface="Cabin"/>
              </a:rPr>
              <a:t> to be </a:t>
            </a:r>
            <a:r>
              <a:rPr lang="sv-SE" dirty="0" err="1">
                <a:latin typeface="Cabin"/>
              </a:rPr>
              <a:t>discussed</a:t>
            </a:r>
            <a:r>
              <a:rPr lang="sv-SE" dirty="0">
                <a:latin typeface="Cabin"/>
              </a:rPr>
              <a:t> and </a:t>
            </a:r>
            <a:r>
              <a:rPr lang="sv-SE" dirty="0" err="1">
                <a:latin typeface="Cabin"/>
              </a:rPr>
              <a:t>defined</a:t>
            </a:r>
            <a:endParaRPr lang="sv-SE" dirty="0">
              <a:latin typeface="Cabin"/>
            </a:endParaRPr>
          </a:p>
          <a:p>
            <a:pPr>
              <a:spcBef>
                <a:spcPts val="1200"/>
              </a:spcBef>
            </a:pPr>
            <a:endParaRPr lang="sv-SE" dirty="0">
              <a:latin typeface="Cabin"/>
            </a:endParaRPr>
          </a:p>
          <a:p>
            <a:pPr>
              <a:spcBef>
                <a:spcPts val="1200"/>
              </a:spcBef>
            </a:pPr>
            <a:endParaRPr lang="sv-SE" dirty="0">
              <a:latin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8209467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2"/>
          </a:solidFill>
        </a:ln>
      </a:spPr>
      <a:bodyPr rtlCol="0" anchor="ctr"/>
      <a:lstStyle>
        <a:defPPr algn="ctr">
          <a:defRPr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ctr">
        <a:noAutofit/>
      </a:bodyPr>
      <a:lstStyle>
        <a:defPPr>
          <a:defRPr dirty="0" smtClean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D50493-BAA2-43D3-8E44-BDE8A5727457}">
  <ds:schemaRefs>
    <ds:schemaRef ds:uri="http://schemas.microsoft.com/office/2006/metadata/properties"/>
    <ds:schemaRef ds:uri="http://schemas.microsoft.com/office/infopath/2007/PartnerControls"/>
    <ds:schemaRef ds:uri="07487076-d980-4c16-b3a0-35f4936cd682"/>
    <ds:schemaRef ds:uri="285f0efd-af34-4a8f-9bb5-f528a47a14ae"/>
  </ds:schemaRefs>
</ds:datastoreItem>
</file>

<file path=customXml/itemProps2.xml><?xml version="1.0" encoding="utf-8"?>
<ds:datastoreItem xmlns:ds="http://schemas.openxmlformats.org/officeDocument/2006/customXml" ds:itemID="{639ECE2E-9E6D-4D1C-8C48-98FF5FBA0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EBBF84-4BBC-4F94-B20F-CC237096C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5f0efd-af34-4a8f-9bb5-f528a47a14ae"/>
    <ds:schemaRef ds:uri="07487076-d980-4c16-b3a0-35f4936cd6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1401</Words>
  <Application>Microsoft Office PowerPoint</Application>
  <PresentationFormat>Widescreen</PresentationFormat>
  <Paragraphs>123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Thème Office</vt:lpstr>
      <vt:lpstr>1_Thème Office</vt:lpstr>
      <vt:lpstr>Future technology:  first outline of a methodological approach for SF modelling  16/06/23 Maria Ljunggren</vt:lpstr>
      <vt:lpstr>WP2-WP3-WP4 interdependencies</vt:lpstr>
      <vt:lpstr>Why consider technology development?</vt:lpstr>
      <vt:lpstr>Example: observed historical changes in vehicles have resulted in changes in waste quantity and composition</vt:lpstr>
      <vt:lpstr>Technology development in future scenarios? </vt:lpstr>
      <vt:lpstr>What assumptions on technology development in future scenarios need to be addressed in SF modelling? </vt:lpstr>
      <vt:lpstr>Importance of addressing product technology development until 2050 differs between waste streams</vt:lpstr>
      <vt:lpstr>Technology diffusion: the process by which a technology increases its market share (is adopted by the market)</vt:lpstr>
      <vt:lpstr>Assumptions on technology diffusion in FutuRaM scenarios</vt:lpstr>
      <vt:lpstr>Assumptions on how product technology development can differ between scenarios</vt:lpstr>
      <vt:lpstr>Assumptions on how recovery technology development can differ between scenarios</vt:lpstr>
      <vt:lpstr>Suggestions</vt:lpstr>
      <vt:lpstr>Timeline and responsibilities</vt:lpstr>
    </vt:vector>
  </TitlesOfParts>
  <Company>Empa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Remmen, Kirsten</dc:creator>
  <cp:lastModifiedBy>Maria Ljunggren</cp:lastModifiedBy>
  <cp:revision>139</cp:revision>
  <dcterms:created xsi:type="dcterms:W3CDTF">2022-12-14T13:51:00Z</dcterms:created>
  <dcterms:modified xsi:type="dcterms:W3CDTF">2023-07-11T09:19:57Z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